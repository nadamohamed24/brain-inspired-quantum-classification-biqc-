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anva Sans Bold" charset="1" panose="020B0803030501040103"/>
      <p:regular r:id="rId23"/>
    </p:embeddedFont>
    <p:embeddedFont>
      <p:font typeface="Glacial Indifference Bold" charset="1" panose="00000800000000000000"/>
      <p:regular r:id="rId24"/>
    </p:embeddedFont>
    <p:embeddedFont>
      <p:font typeface="Glacial Indifference" charset="1" panose="00000000000000000000"/>
      <p:regular r:id="rId25"/>
    </p:embeddedFont>
    <p:embeddedFont>
      <p:font typeface="Canva Sans" charset="1" panose="020B0503030501040103"/>
      <p:regular r:id="rId26"/>
    </p:embeddedFont>
    <p:embeddedFont>
      <p:font typeface="Glacial Indifference Italics" charset="1" panose="00000000000000000000"/>
      <p:regular r:id="rId27"/>
    </p:embeddedFont>
    <p:embeddedFont>
      <p:font typeface="The Seasons Bold"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https://arxiv.org/abs/2509.05919"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https://eui.edu.eg/events/quantum-workshop-25" TargetMode="External" Type="http://schemas.openxmlformats.org/officeDocument/2006/relationships/hyperlink"/><Relationship Id="rId3" Target="https://eui.edu.eg/events/quantum-workshop-25" TargetMode="External" Type="http://schemas.openxmlformats.org/officeDocument/2006/relationships/hyperlink"/><Relationship Id="rId4" Target="https://eui.edu.eg/events/quantum-workshop-25" TargetMode="External" Type="http://schemas.openxmlformats.org/officeDocument/2006/relationships/hyperlink"/><Relationship Id="rId5" Target="https://itcs.nu.edu.eg/Air_Quality_Quantum_Computing" TargetMode="External" Type="http://schemas.openxmlformats.org/officeDocument/2006/relationships/hyperlink"/><Relationship Id="rId6" Target="https://www.linkedin.com/company/nist/"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https://stocks.observer-reporter.com/observerreporter/article/binary-2025-5-26-anzaetek-leads-the-global-quantum-ai-frontier-from-seoul?utm_source=chatgpt.com" TargetMode="External" Type="http://schemas.openxmlformats.org/officeDocument/2006/relationships/hyperlink"/><Relationship Id="rId4" Target="https://www.fortunebusinessinsights.com/quantum-computing-market-104855" TargetMode="External" Type="http://schemas.openxmlformats.org/officeDocument/2006/relationships/hyperlink"/><Relationship Id="rId5" Target="https://www.f6s.com/company/qubits#about" TargetMode="External" Type="http://schemas.openxmlformats.org/officeDocument/2006/relationships/hyperlink"/><Relationship Id="rId6" Target="https://www.f6s.com/company/qubits#about" TargetMode="External" Type="http://schemas.openxmlformats.org/officeDocument/2006/relationships/hyperlink"/></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EEE7"/>
        </a:solidFill>
      </p:bgPr>
    </p:bg>
    <p:spTree>
      <p:nvGrpSpPr>
        <p:cNvPr id="1" name=""/>
        <p:cNvGrpSpPr/>
        <p:nvPr/>
      </p:nvGrpSpPr>
      <p:grpSpPr>
        <a:xfrm>
          <a:off x="0" y="0"/>
          <a:ext cx="0" cy="0"/>
          <a:chOff x="0" y="0"/>
          <a:chExt cx="0" cy="0"/>
        </a:xfrm>
      </p:grpSpPr>
      <p:sp>
        <p:nvSpPr>
          <p:cNvPr name="Freeform 2" id="2"/>
          <p:cNvSpPr/>
          <p:nvPr/>
        </p:nvSpPr>
        <p:spPr>
          <a:xfrm flipH="false" flipV="false" rot="0">
            <a:off x="14406485" y="0"/>
            <a:ext cx="4124645" cy="10386972"/>
          </a:xfrm>
          <a:custGeom>
            <a:avLst/>
            <a:gdLst/>
            <a:ahLst/>
            <a:cxnLst/>
            <a:rect r="r" b="b" t="t" l="l"/>
            <a:pathLst>
              <a:path h="10386972" w="4124645">
                <a:moveTo>
                  <a:pt x="0" y="0"/>
                </a:moveTo>
                <a:lnTo>
                  <a:pt x="4124645" y="0"/>
                </a:lnTo>
                <a:lnTo>
                  <a:pt x="4124645" y="10386972"/>
                </a:lnTo>
                <a:lnTo>
                  <a:pt x="0" y="10386972"/>
                </a:lnTo>
                <a:lnTo>
                  <a:pt x="0" y="0"/>
                </a:lnTo>
                <a:close/>
              </a:path>
            </a:pathLst>
          </a:custGeom>
          <a:blipFill>
            <a:blip r:embed="rId2"/>
            <a:stretch>
              <a:fillRect l="-47993" t="0" r="-20043" b="0"/>
            </a:stretch>
          </a:blipFill>
        </p:spPr>
      </p:sp>
      <p:sp>
        <p:nvSpPr>
          <p:cNvPr name="TextBox 3" id="3"/>
          <p:cNvSpPr txBox="true"/>
          <p:nvPr/>
        </p:nvSpPr>
        <p:spPr>
          <a:xfrm rot="0">
            <a:off x="1383036" y="1168513"/>
            <a:ext cx="12380742" cy="3034610"/>
          </a:xfrm>
          <a:prstGeom prst="rect">
            <a:avLst/>
          </a:prstGeom>
        </p:spPr>
        <p:txBody>
          <a:bodyPr anchor="t" rtlCol="false" tIns="0" lIns="0" bIns="0" rIns="0">
            <a:spAutoFit/>
          </a:bodyPr>
          <a:lstStyle/>
          <a:p>
            <a:pPr algn="ctr">
              <a:lnSpc>
                <a:spcPts val="12010"/>
              </a:lnSpc>
            </a:pPr>
            <a:r>
              <a:rPr lang="en-US" sz="9608" b="true">
                <a:solidFill>
                  <a:srgbClr val="866255"/>
                </a:solidFill>
                <a:latin typeface="Canva Sans Bold"/>
                <a:ea typeface="Canva Sans Bold"/>
                <a:cs typeface="Canva Sans Bold"/>
                <a:sym typeface="Canva Sans Bold"/>
              </a:rPr>
              <a:t>Forest Before Trees         Cognition</a:t>
            </a:r>
          </a:p>
        </p:txBody>
      </p:sp>
      <p:sp>
        <p:nvSpPr>
          <p:cNvPr name="TextBox 4" id="4"/>
          <p:cNvSpPr txBox="true"/>
          <p:nvPr/>
        </p:nvSpPr>
        <p:spPr>
          <a:xfrm rot="0">
            <a:off x="3627463" y="4365263"/>
            <a:ext cx="7242755" cy="1104265"/>
          </a:xfrm>
          <a:prstGeom prst="rect">
            <a:avLst/>
          </a:prstGeom>
        </p:spPr>
        <p:txBody>
          <a:bodyPr anchor="t" rtlCol="false" tIns="0" lIns="0" bIns="0" rIns="0">
            <a:spAutoFit/>
          </a:bodyPr>
          <a:lstStyle/>
          <a:p>
            <a:pPr algn="ctr">
              <a:lnSpc>
                <a:spcPts val="8959"/>
              </a:lnSpc>
              <a:spcBef>
                <a:spcPct val="0"/>
              </a:spcBef>
            </a:pPr>
            <a:r>
              <a:rPr lang="en-US" b="true" sz="6399">
                <a:solidFill>
                  <a:srgbClr val="AD947E"/>
                </a:solidFill>
                <a:latin typeface="Glacial Indifference Bold"/>
                <a:ea typeface="Glacial Indifference Bold"/>
                <a:cs typeface="Glacial Indifference Bold"/>
                <a:sym typeface="Glacial Indifference Bold"/>
              </a:rPr>
              <a:t>The BIQC</a:t>
            </a:r>
          </a:p>
        </p:txBody>
      </p:sp>
      <p:sp>
        <p:nvSpPr>
          <p:cNvPr name="TextBox 5" id="5"/>
          <p:cNvSpPr txBox="true"/>
          <p:nvPr/>
        </p:nvSpPr>
        <p:spPr>
          <a:xfrm rot="0">
            <a:off x="3937725" y="5998048"/>
            <a:ext cx="7271363" cy="1553845"/>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Glacial Indifference"/>
                <a:ea typeface="Glacial Indifference"/>
                <a:cs typeface="Glacial Indifference"/>
                <a:sym typeface="Glacial Indifference"/>
              </a:rPr>
              <a:t>Imagine combining the remarkable way our brains process vision with the unparalleled computational power of quantum computing—could this redefine how machines perceive reality?</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EEE7"/>
        </a:solidFill>
      </p:bgPr>
    </p:bg>
    <p:spTree>
      <p:nvGrpSpPr>
        <p:cNvPr id="1" name=""/>
        <p:cNvGrpSpPr/>
        <p:nvPr/>
      </p:nvGrpSpPr>
      <p:grpSpPr>
        <a:xfrm>
          <a:off x="0" y="0"/>
          <a:ext cx="0" cy="0"/>
          <a:chOff x="0" y="0"/>
          <a:chExt cx="0" cy="0"/>
        </a:xfrm>
      </p:grpSpPr>
      <p:sp>
        <p:nvSpPr>
          <p:cNvPr name="TextBox 2" id="2"/>
          <p:cNvSpPr txBox="true"/>
          <p:nvPr/>
        </p:nvSpPr>
        <p:spPr>
          <a:xfrm rot="0">
            <a:off x="610141" y="1391048"/>
            <a:ext cx="17067718" cy="1220694"/>
          </a:xfrm>
          <a:prstGeom prst="rect">
            <a:avLst/>
          </a:prstGeom>
        </p:spPr>
        <p:txBody>
          <a:bodyPr anchor="t" rtlCol="false" tIns="0" lIns="0" bIns="0" rIns="0">
            <a:spAutoFit/>
          </a:bodyPr>
          <a:lstStyle/>
          <a:p>
            <a:pPr algn="ctr">
              <a:lnSpc>
                <a:spcPts val="9544"/>
              </a:lnSpc>
            </a:pPr>
            <a:r>
              <a:rPr lang="en-US" sz="8088" b="true">
                <a:solidFill>
                  <a:srgbClr val="866255"/>
                </a:solidFill>
                <a:latin typeface="Canva Sans Bold"/>
                <a:ea typeface="Canva Sans Bold"/>
                <a:cs typeface="Canva Sans Bold"/>
                <a:sym typeface="Canva Sans Bold"/>
              </a:rPr>
              <a:t>The problem we ’re trying to solve</a:t>
            </a:r>
          </a:p>
        </p:txBody>
      </p:sp>
      <p:sp>
        <p:nvSpPr>
          <p:cNvPr name="TextBox 3" id="3"/>
          <p:cNvSpPr txBox="true"/>
          <p:nvPr/>
        </p:nvSpPr>
        <p:spPr>
          <a:xfrm rot="0">
            <a:off x="1317606" y="3375646"/>
            <a:ext cx="15652789" cy="5477510"/>
          </a:xfrm>
          <a:prstGeom prst="rect">
            <a:avLst/>
          </a:prstGeom>
        </p:spPr>
        <p:txBody>
          <a:bodyPr anchor="t" rtlCol="false" tIns="0" lIns="0" bIns="0" rIns="0">
            <a:spAutoFit/>
          </a:bodyPr>
          <a:lstStyle/>
          <a:p>
            <a:pPr algn="just">
              <a:lnSpc>
                <a:spcPts val="3639"/>
              </a:lnSpc>
            </a:pPr>
            <a:r>
              <a:rPr lang="en-US" sz="2599" b="true">
                <a:solidFill>
                  <a:srgbClr val="866255"/>
                </a:solidFill>
                <a:latin typeface="Glacial Indifference Bold"/>
                <a:ea typeface="Glacial Indifference Bold"/>
                <a:cs typeface="Glacial Indifference Bold"/>
                <a:sym typeface="Glacial Indifference Bold"/>
              </a:rPr>
              <a:t>                                 Decoding visual information is a key challenge in machine learning</a:t>
            </a:r>
            <a:r>
              <a:rPr lang="en-US" sz="2599">
                <a:solidFill>
                  <a:srgbClr val="866255"/>
                </a:solidFill>
                <a:latin typeface="Glacial Indifference"/>
                <a:ea typeface="Glacial Indifference"/>
                <a:cs typeface="Glacial Indifference"/>
                <a:sym typeface="Glacial Indifference"/>
              </a:rPr>
              <a:t>. </a:t>
            </a:r>
          </a:p>
          <a:p>
            <a:pPr algn="just">
              <a:lnSpc>
                <a:spcPts val="3639"/>
              </a:lnSpc>
            </a:pP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Early algorithms mainly relied on feature extraction and Bayesian-based matching methods but </a:t>
            </a:r>
            <a:r>
              <a:rPr lang="en-US" b="true" sz="2599">
                <a:solidFill>
                  <a:srgbClr val="866255"/>
                </a:solidFill>
                <a:latin typeface="Glacial Indifference Bold"/>
                <a:ea typeface="Glacial Indifference Bold"/>
                <a:cs typeface="Glacial Indifference Bold"/>
                <a:sym typeface="Glacial Indifference Bold"/>
              </a:rPr>
              <a:t>struggled with deformations and generalization.</a:t>
            </a:r>
            <a:r>
              <a:rPr lang="en-US" sz="2599">
                <a:solidFill>
                  <a:srgbClr val="866255"/>
                </a:solidFill>
                <a:latin typeface="Glacial Indifference"/>
                <a:ea typeface="Glacial Indifference"/>
                <a:cs typeface="Glacial Indifference"/>
                <a:sym typeface="Glacial Indifference"/>
              </a:rPr>
              <a:t> </a:t>
            </a:r>
          </a:p>
          <a:p>
            <a:pPr algn="just">
              <a:lnSpc>
                <a:spcPts val="3639"/>
              </a:lnSpc>
            </a:pP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The introduction of Deep Learning, particularly (CNNs), revolutionized the field by enabling the automatic learning of hierarchical feature representations, focusing on </a:t>
            </a:r>
            <a:r>
              <a:rPr lang="en-US" b="true" sz="2599">
                <a:solidFill>
                  <a:srgbClr val="866255"/>
                </a:solidFill>
                <a:latin typeface="Glacial Indifference Bold"/>
                <a:ea typeface="Glacial Indifference Bold"/>
                <a:cs typeface="Glacial Indifference Bold"/>
                <a:sym typeface="Glacial Indifference Bold"/>
              </a:rPr>
              <a:t>translation-invariant characteristics.</a:t>
            </a:r>
          </a:p>
          <a:p>
            <a:pPr algn="just" marL="561339" indent="-280669" lvl="1">
              <a:lnSpc>
                <a:spcPts val="3639"/>
              </a:lnSpc>
              <a:buAutoNum type="arabicPeriod" startAt="1"/>
            </a:pPr>
            <a:r>
              <a:rPr lang="en-US" b="true" sz="2599">
                <a:solidFill>
                  <a:srgbClr val="866255"/>
                </a:solidFill>
                <a:latin typeface="Glacial Indifference Bold"/>
                <a:ea typeface="Glacial Indifference Bold"/>
                <a:cs typeface="Glacial Indifference Bold"/>
                <a:sym typeface="Glacial Indifference Bold"/>
              </a:rPr>
              <a:t>But </a:t>
            </a:r>
            <a:r>
              <a:rPr lang="en-US" sz="2599">
                <a:solidFill>
                  <a:srgbClr val="866255"/>
                </a:solidFill>
                <a:latin typeface="Glacial Indifference"/>
                <a:ea typeface="Glacial Indifference"/>
                <a:cs typeface="Glacial Indifference"/>
                <a:sym typeface="Glacial Indifference"/>
              </a:rPr>
              <a:t>recently the DL algorithms often</a:t>
            </a:r>
            <a:r>
              <a:rPr lang="en-US" b="true" sz="2599">
                <a:solidFill>
                  <a:srgbClr val="866255"/>
                </a:solidFill>
                <a:latin typeface="Glacial Indifference Bold"/>
                <a:ea typeface="Glacial Indifference Bold"/>
                <a:cs typeface="Glacial Indifference Bold"/>
                <a:sym typeface="Glacial Indifference Bold"/>
              </a:rPr>
              <a:t> struggle with accuracy when dealing with large, high-dimensional, and detail-rich images</a:t>
            </a:r>
            <a:r>
              <a:rPr lang="en-US" sz="2599">
                <a:solidFill>
                  <a:srgbClr val="866255"/>
                </a:solidFill>
                <a:latin typeface="Glacial Indifference"/>
                <a:ea typeface="Glacial Indifference"/>
                <a:cs typeface="Glacial Indifference"/>
                <a:sym typeface="Glacial Indifference"/>
              </a:rPr>
              <a:t>.</a:t>
            </a:r>
          </a:p>
          <a:p>
            <a:pPr algn="just" marL="561339" indent="-280669" lvl="1">
              <a:lnSpc>
                <a:spcPts val="3639"/>
              </a:lnSpc>
              <a:buAutoNum type="arabicPeriod" startAt="1"/>
            </a:pPr>
            <a:r>
              <a:rPr lang="en-US" sz="2599">
                <a:solidFill>
                  <a:srgbClr val="866255"/>
                </a:solidFill>
                <a:latin typeface="Glacial Indifference"/>
                <a:ea typeface="Glacial Indifference"/>
                <a:cs typeface="Glacial Indifference"/>
                <a:sym typeface="Glacial Indifference"/>
              </a:rPr>
              <a:t>Moreover, </a:t>
            </a:r>
            <a:r>
              <a:rPr lang="en-US" b="true" sz="2599">
                <a:solidFill>
                  <a:srgbClr val="866255"/>
                </a:solidFill>
                <a:latin typeface="Glacial Indifference Bold"/>
                <a:ea typeface="Glacial Indifference Bold"/>
                <a:cs typeface="Glacial Indifference Bold"/>
                <a:sym typeface="Glacial Indifference Bold"/>
              </a:rPr>
              <a:t>high computational cost</a:t>
            </a:r>
            <a:r>
              <a:rPr lang="en-US" sz="2599">
                <a:solidFill>
                  <a:srgbClr val="866255"/>
                </a:solidFill>
                <a:latin typeface="Glacial Indifference"/>
                <a:ea typeface="Glacial Indifference"/>
                <a:cs typeface="Glacial Indifference"/>
                <a:sym typeface="Glacial Indifference"/>
              </a:rPr>
              <a:t> is another major challenge in the era of big data.</a:t>
            </a:r>
          </a:p>
          <a:p>
            <a:pPr algn="just">
              <a:lnSpc>
                <a:spcPts val="3639"/>
              </a:lnSpc>
            </a:pPr>
          </a:p>
          <a:p>
            <a:pPr algn="just">
              <a:lnSpc>
                <a:spcPts val="3639"/>
              </a:lnSpc>
            </a:pPr>
            <a:r>
              <a:rPr lang="en-US" sz="2599" b="true">
                <a:solidFill>
                  <a:srgbClr val="866255"/>
                </a:solidFill>
                <a:latin typeface="Glacial Indifference Bold"/>
                <a:ea typeface="Glacial Indifference Bold"/>
                <a:cs typeface="Glacial Indifference Bold"/>
                <a:sym typeface="Glacial Indifference Bold"/>
              </a:rPr>
              <a:t> </a:t>
            </a:r>
            <a:r>
              <a:rPr lang="en-US" sz="2599">
                <a:solidFill>
                  <a:srgbClr val="866255"/>
                </a:solidFill>
                <a:latin typeface="Glacial Indifference"/>
                <a:ea typeface="Glacial Indifference"/>
                <a:cs typeface="Glacial Indifference"/>
                <a:sym typeface="Glacial Indifference"/>
              </a:rPr>
              <a:t>  </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4EEE7"/>
        </a:solidFill>
      </p:bgPr>
    </p:bg>
    <p:spTree>
      <p:nvGrpSpPr>
        <p:cNvPr id="1" name=""/>
        <p:cNvGrpSpPr/>
        <p:nvPr/>
      </p:nvGrpSpPr>
      <p:grpSpPr>
        <a:xfrm>
          <a:off x="0" y="0"/>
          <a:ext cx="0" cy="0"/>
          <a:chOff x="0" y="0"/>
          <a:chExt cx="0" cy="0"/>
        </a:xfrm>
      </p:grpSpPr>
      <p:sp>
        <p:nvSpPr>
          <p:cNvPr name="TextBox 2" id="2"/>
          <p:cNvSpPr txBox="true"/>
          <p:nvPr/>
        </p:nvSpPr>
        <p:spPr>
          <a:xfrm rot="0">
            <a:off x="1028700" y="1038225"/>
            <a:ext cx="9022527" cy="949581"/>
          </a:xfrm>
          <a:prstGeom prst="rect">
            <a:avLst/>
          </a:prstGeom>
        </p:spPr>
        <p:txBody>
          <a:bodyPr anchor="t" rtlCol="false" tIns="0" lIns="0" bIns="0" rIns="0">
            <a:spAutoFit/>
          </a:bodyPr>
          <a:lstStyle/>
          <a:p>
            <a:pPr algn="l">
              <a:lnSpc>
                <a:spcPts val="7493"/>
              </a:lnSpc>
            </a:pPr>
            <a:r>
              <a:rPr lang="en-US" sz="6350" b="true">
                <a:solidFill>
                  <a:srgbClr val="866255"/>
                </a:solidFill>
                <a:latin typeface="Glacial Indifference Bold"/>
                <a:ea typeface="Glacial Indifference Bold"/>
                <a:cs typeface="Glacial Indifference Bold"/>
                <a:sym typeface="Glacial Indifference Bold"/>
              </a:rPr>
              <a:t>Follow problem analysis</a:t>
            </a:r>
          </a:p>
        </p:txBody>
      </p:sp>
      <p:sp>
        <p:nvSpPr>
          <p:cNvPr name="TextBox 3" id="3"/>
          <p:cNvSpPr txBox="true"/>
          <p:nvPr/>
        </p:nvSpPr>
        <p:spPr>
          <a:xfrm rot="0">
            <a:off x="1028700" y="2310379"/>
            <a:ext cx="10400354" cy="5934710"/>
          </a:xfrm>
          <a:prstGeom prst="rect">
            <a:avLst/>
          </a:prstGeom>
        </p:spPr>
        <p:txBody>
          <a:bodyPr anchor="t" rtlCol="false" tIns="0" lIns="0" bIns="0" rIns="0">
            <a:spAutoFit/>
          </a:bodyPr>
          <a:lstStyle/>
          <a:p>
            <a:pPr algn="just">
              <a:lnSpc>
                <a:spcPts val="3639"/>
              </a:lnSpc>
            </a:pPr>
            <a:r>
              <a:rPr lang="en-US" sz="2599">
                <a:solidFill>
                  <a:srgbClr val="866255"/>
                </a:solidFill>
                <a:latin typeface="Glacial Indifference"/>
                <a:ea typeface="Glacial Indifference"/>
                <a:cs typeface="Glacial Indifference"/>
                <a:sym typeface="Glacial Indifference"/>
              </a:rPr>
              <a:t>So thinking of </a:t>
            </a:r>
            <a:r>
              <a:rPr lang="en-US" sz="2599" b="true">
                <a:solidFill>
                  <a:srgbClr val="866255"/>
                </a:solidFill>
                <a:latin typeface="Glacial Indifference Bold"/>
                <a:ea typeface="Glacial Indifference Bold"/>
                <a:cs typeface="Glacial Indifference Bold"/>
                <a:sym typeface="Glacial Indifference Bold"/>
              </a:rPr>
              <a:t>Quantum Computing</a:t>
            </a:r>
            <a:r>
              <a:rPr lang="en-US" sz="2599">
                <a:solidFill>
                  <a:srgbClr val="866255"/>
                </a:solidFill>
                <a:latin typeface="Glacial Indifference"/>
                <a:ea typeface="Glacial Indifference"/>
                <a:cs typeface="Glacial Indifference"/>
                <a:sym typeface="Glacial Indifference"/>
              </a:rPr>
              <a:t> for Computer Vision tasks, due to </a:t>
            </a: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Exponential state space for </a:t>
            </a:r>
            <a:r>
              <a:rPr lang="en-US" b="true" sz="2599">
                <a:solidFill>
                  <a:srgbClr val="866255"/>
                </a:solidFill>
                <a:latin typeface="Glacial Indifference Bold"/>
                <a:ea typeface="Glacial Indifference Bold"/>
                <a:cs typeface="Glacial Indifference Bold"/>
                <a:sym typeface="Glacial Indifference Bold"/>
              </a:rPr>
              <a:t>representing high-dimensional data</a:t>
            </a:r>
            <a:r>
              <a:rPr lang="en-US" sz="2599">
                <a:solidFill>
                  <a:srgbClr val="866255"/>
                </a:solidFill>
                <a:latin typeface="Glacial Indifference"/>
                <a:ea typeface="Glacial Indifference"/>
                <a:cs typeface="Glacial Indifference"/>
                <a:sym typeface="Glacial Indifference"/>
              </a:rPr>
              <a:t>.</a:t>
            </a: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Potential for </a:t>
            </a:r>
            <a:r>
              <a:rPr lang="en-US" b="true" sz="2599">
                <a:solidFill>
                  <a:srgbClr val="866255"/>
                </a:solidFill>
                <a:latin typeface="Glacial Indifference Bold"/>
                <a:ea typeface="Glacial Indifference Bold"/>
                <a:cs typeface="Glacial Indifference Bold"/>
                <a:sym typeface="Glacial Indifference Bold"/>
              </a:rPr>
              <a:t>faster</a:t>
            </a:r>
            <a:r>
              <a:rPr lang="en-US" sz="2599">
                <a:solidFill>
                  <a:srgbClr val="866255"/>
                </a:solidFill>
                <a:latin typeface="Glacial Indifference"/>
                <a:ea typeface="Glacial Indifference"/>
                <a:cs typeface="Glacial Indifference"/>
                <a:sym typeface="Glacial Indifference"/>
              </a:rPr>
              <a:t> optimization and feature extraction.</a:t>
            </a:r>
          </a:p>
          <a:p>
            <a:pPr algn="just">
              <a:lnSpc>
                <a:spcPts val="3639"/>
              </a:lnSpc>
            </a:pPr>
            <a:r>
              <a:rPr lang="en-US" sz="2599">
                <a:solidFill>
                  <a:srgbClr val="866255"/>
                </a:solidFill>
                <a:latin typeface="Glacial Indifference"/>
                <a:ea typeface="Glacial Indifference"/>
                <a:cs typeface="Glacial Indifference"/>
                <a:sym typeface="Glacial Indifference"/>
              </a:rPr>
              <a:t>But it faces </a:t>
            </a:r>
            <a:r>
              <a:rPr lang="en-US" sz="2599" b="true">
                <a:solidFill>
                  <a:srgbClr val="866255"/>
                </a:solidFill>
                <a:latin typeface="Glacial Indifference Bold"/>
                <a:ea typeface="Glacial Indifference Bold"/>
                <a:cs typeface="Glacial Indifference Bold"/>
                <a:sym typeface="Glacial Indifference Bold"/>
              </a:rPr>
              <a:t>challenges</a:t>
            </a:r>
            <a:r>
              <a:rPr lang="en-US" sz="2599">
                <a:solidFill>
                  <a:srgbClr val="866255"/>
                </a:solidFill>
                <a:latin typeface="Glacial Indifference"/>
                <a:ea typeface="Glacial Indifference"/>
                <a:cs typeface="Glacial Indifference"/>
                <a:sym typeface="Glacial Indifference"/>
              </a:rPr>
              <a:t> like:</a:t>
            </a: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Limited qubit counts</a:t>
            </a: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F</a:t>
            </a:r>
            <a:r>
              <a:rPr lang="en-US" sz="2599">
                <a:solidFill>
                  <a:srgbClr val="866255"/>
                </a:solidFill>
                <a:latin typeface="Glacial Indifference"/>
                <a:ea typeface="Glacial Indifference"/>
                <a:cs typeface="Glacial Indifference"/>
                <a:sym typeface="Glacial Indifference"/>
              </a:rPr>
              <a:t>idelity issues</a:t>
            </a: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 Barren plateaus</a:t>
            </a: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D</a:t>
            </a:r>
            <a:r>
              <a:rPr lang="en-US" sz="2599">
                <a:solidFill>
                  <a:srgbClr val="866255"/>
                </a:solidFill>
                <a:latin typeface="Glacial Indifference"/>
                <a:ea typeface="Glacial Indifference"/>
                <a:cs typeface="Glacial Indifference"/>
                <a:sym typeface="Glacial Indifference"/>
              </a:rPr>
              <a:t>ifficulties mapping large classical datasets to quantum states</a:t>
            </a:r>
          </a:p>
          <a:p>
            <a:pPr algn="just">
              <a:lnSpc>
                <a:spcPts val="3639"/>
              </a:lnSpc>
            </a:pPr>
            <a:r>
              <a:rPr lang="en-US" sz="2599">
                <a:solidFill>
                  <a:srgbClr val="866255"/>
                </a:solidFill>
                <a:latin typeface="Glacial Indifference"/>
                <a:ea typeface="Glacial Indifference"/>
                <a:cs typeface="Glacial Indifference"/>
                <a:sym typeface="Glacial Indifference"/>
              </a:rPr>
              <a:t>So the introduce of </a:t>
            </a:r>
          </a:p>
          <a:p>
            <a:pPr algn="just" marL="561339" indent="-280669" lvl="1">
              <a:lnSpc>
                <a:spcPts val="3639"/>
              </a:lnSpc>
              <a:buFont typeface="Arial"/>
              <a:buChar char="•"/>
            </a:pPr>
            <a:r>
              <a:rPr lang="en-US" b="true" sz="2599">
                <a:solidFill>
                  <a:srgbClr val="866255"/>
                </a:solidFill>
                <a:latin typeface="Glacial Indifference Bold"/>
                <a:ea typeface="Glacial Indifference Bold"/>
                <a:cs typeface="Glacial Indifference Bold"/>
                <a:sym typeface="Glacial Indifference Bold"/>
              </a:rPr>
              <a:t>parametrized</a:t>
            </a:r>
            <a:r>
              <a:rPr lang="en-US" sz="2599">
                <a:solidFill>
                  <a:srgbClr val="866255"/>
                </a:solidFill>
                <a:latin typeface="Glacial Indifference"/>
                <a:ea typeface="Glacial Indifference"/>
                <a:cs typeface="Glacial Indifference"/>
                <a:sym typeface="Glacial Indifference"/>
              </a:rPr>
              <a:t> quantum circuit</a:t>
            </a: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hybrid </a:t>
            </a:r>
            <a:r>
              <a:rPr lang="en-US" b="true" sz="2599">
                <a:solidFill>
                  <a:srgbClr val="866255"/>
                </a:solidFill>
                <a:latin typeface="Glacial Indifference Bold"/>
                <a:ea typeface="Glacial Indifference Bold"/>
                <a:cs typeface="Glacial Indifference Bold"/>
                <a:sym typeface="Glacial Indifference Bold"/>
              </a:rPr>
              <a:t>quantum-classical </a:t>
            </a:r>
            <a:r>
              <a:rPr lang="en-US" sz="2599">
                <a:solidFill>
                  <a:srgbClr val="866255"/>
                </a:solidFill>
                <a:latin typeface="Glacial Indifference"/>
                <a:ea typeface="Glacial Indifference"/>
                <a:cs typeface="Glacial Indifference"/>
                <a:sym typeface="Glacial Indifference"/>
              </a:rPr>
              <a:t>algorithms </a:t>
            </a:r>
          </a:p>
          <a:p>
            <a:pPr algn="just">
              <a:lnSpc>
                <a:spcPts val="3639"/>
              </a:lnSpc>
            </a:pPr>
            <a:r>
              <a:rPr lang="en-US" sz="2599">
                <a:solidFill>
                  <a:srgbClr val="866255"/>
                </a:solidFill>
                <a:latin typeface="Glacial Indifference"/>
                <a:ea typeface="Glacial Indifference"/>
                <a:cs typeface="Glacial Indifference"/>
                <a:sym typeface="Glacial Indifference"/>
              </a:rPr>
              <a:t>But it doesn’t stop here .... .</a:t>
            </a:r>
          </a:p>
          <a:p>
            <a:pPr algn="just">
              <a:lnSpc>
                <a:spcPts val="3639"/>
              </a:lnSpc>
            </a:pPr>
          </a:p>
        </p:txBody>
      </p:sp>
      <p:grpSp>
        <p:nvGrpSpPr>
          <p:cNvPr name="Group 4" id="4"/>
          <p:cNvGrpSpPr/>
          <p:nvPr/>
        </p:nvGrpSpPr>
        <p:grpSpPr>
          <a:xfrm rot="0">
            <a:off x="10599624" y="3433807"/>
            <a:ext cx="7348840" cy="2011700"/>
            <a:chOff x="0" y="0"/>
            <a:chExt cx="1935497" cy="529830"/>
          </a:xfrm>
        </p:grpSpPr>
        <p:sp>
          <p:nvSpPr>
            <p:cNvPr name="Freeform 5" id="5"/>
            <p:cNvSpPr/>
            <p:nvPr/>
          </p:nvSpPr>
          <p:spPr>
            <a:xfrm flipH="false" flipV="false" rot="0">
              <a:off x="0" y="0"/>
              <a:ext cx="1935497" cy="529830"/>
            </a:xfrm>
            <a:custGeom>
              <a:avLst/>
              <a:gdLst/>
              <a:ahLst/>
              <a:cxnLst/>
              <a:rect r="r" b="b" t="t" l="l"/>
              <a:pathLst>
                <a:path h="529830" w="1935497">
                  <a:moveTo>
                    <a:pt x="0" y="0"/>
                  </a:moveTo>
                  <a:lnTo>
                    <a:pt x="1935497" y="0"/>
                  </a:lnTo>
                  <a:lnTo>
                    <a:pt x="1935497" y="529830"/>
                  </a:lnTo>
                  <a:lnTo>
                    <a:pt x="0" y="529830"/>
                  </a:lnTo>
                  <a:close/>
                </a:path>
              </a:pathLst>
            </a:custGeom>
            <a:solidFill>
              <a:srgbClr val="AD947E"/>
            </a:solidFill>
          </p:spPr>
        </p:sp>
        <p:sp>
          <p:nvSpPr>
            <p:cNvPr name="TextBox 6" id="6"/>
            <p:cNvSpPr txBox="true"/>
            <p:nvPr/>
          </p:nvSpPr>
          <p:spPr>
            <a:xfrm>
              <a:off x="0" y="-38100"/>
              <a:ext cx="1935497" cy="56793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1343191" y="3526016"/>
            <a:ext cx="6145382" cy="2084767"/>
          </a:xfrm>
          <a:prstGeom prst="rect">
            <a:avLst/>
          </a:prstGeom>
        </p:spPr>
        <p:txBody>
          <a:bodyPr anchor="t" rtlCol="false" tIns="0" lIns="0" bIns="0" rIns="0">
            <a:spAutoFit/>
          </a:bodyPr>
          <a:lstStyle/>
          <a:p>
            <a:pPr algn="just">
              <a:lnSpc>
                <a:spcPts val="2365"/>
              </a:lnSpc>
            </a:pPr>
            <a:r>
              <a:rPr lang="en-US" sz="1689">
                <a:solidFill>
                  <a:srgbClr val="F4EEE7"/>
                </a:solidFill>
                <a:latin typeface="Glacial Indifference"/>
                <a:ea typeface="Glacial Indifference"/>
                <a:cs typeface="Glacial Indifference"/>
                <a:sym typeface="Glacial Indifference"/>
              </a:rPr>
              <a:t>Parameterized Quantum Circuit (PQC):</a:t>
            </a:r>
          </a:p>
          <a:p>
            <a:pPr algn="just" marL="364721" indent="-182361" lvl="1">
              <a:lnSpc>
                <a:spcPts val="2365"/>
              </a:lnSpc>
              <a:buFont typeface="Arial"/>
              <a:buChar char="•"/>
            </a:pPr>
            <a:r>
              <a:rPr lang="en-US" sz="1689">
                <a:solidFill>
                  <a:srgbClr val="F4EEE7"/>
                </a:solidFill>
                <a:latin typeface="Glacial Indifference"/>
                <a:ea typeface="Glacial Indifference"/>
                <a:cs typeface="Glacial Indifference"/>
                <a:sym typeface="Glacial Indifference"/>
              </a:rPr>
              <a:t>A quantum-only model with trainable parameters.</a:t>
            </a:r>
          </a:p>
          <a:p>
            <a:pPr algn="just" marL="364721" indent="-182361" lvl="1">
              <a:lnSpc>
                <a:spcPts val="2365"/>
              </a:lnSpc>
              <a:buFont typeface="Arial"/>
              <a:buChar char="•"/>
            </a:pPr>
            <a:r>
              <a:rPr lang="en-US" sz="1689">
                <a:solidFill>
                  <a:srgbClr val="F4EEE7"/>
                </a:solidFill>
                <a:latin typeface="Glacial Indifference"/>
                <a:ea typeface="Glacial Indifference"/>
                <a:cs typeface="Glacial Indifference"/>
                <a:sym typeface="Glacial Indifference"/>
              </a:rPr>
              <a:t>Introduced so quantum circuits could learn like neural networks (optimized by classical algorithms).</a:t>
            </a:r>
          </a:p>
          <a:p>
            <a:pPr algn="just" marL="364721" indent="-182361" lvl="1">
              <a:lnSpc>
                <a:spcPts val="2365"/>
              </a:lnSpc>
              <a:buFont typeface="Arial"/>
              <a:buChar char="•"/>
            </a:pPr>
            <a:r>
              <a:rPr lang="en-US" sz="1689">
                <a:solidFill>
                  <a:srgbClr val="F4EEE7"/>
                </a:solidFill>
                <a:latin typeface="Glacial Indifference"/>
                <a:ea typeface="Glacial Indifference"/>
                <a:cs typeface="Glacial Indifference"/>
                <a:sym typeface="Glacial Indifference"/>
              </a:rPr>
              <a:t>Core idea: instead of fixed quantum gates, you allow tunable rotations → the circuit adapts to the data/task.</a:t>
            </a:r>
          </a:p>
          <a:p>
            <a:pPr algn="just">
              <a:lnSpc>
                <a:spcPts val="2365"/>
              </a:lnSpc>
            </a:pPr>
          </a:p>
        </p:txBody>
      </p:sp>
      <p:grpSp>
        <p:nvGrpSpPr>
          <p:cNvPr name="Group 8" id="8"/>
          <p:cNvGrpSpPr/>
          <p:nvPr/>
        </p:nvGrpSpPr>
        <p:grpSpPr>
          <a:xfrm rot="0">
            <a:off x="10489367" y="7246600"/>
            <a:ext cx="7348840" cy="2011700"/>
            <a:chOff x="0" y="0"/>
            <a:chExt cx="1935497" cy="529830"/>
          </a:xfrm>
        </p:grpSpPr>
        <p:sp>
          <p:nvSpPr>
            <p:cNvPr name="Freeform 9" id="9"/>
            <p:cNvSpPr/>
            <p:nvPr/>
          </p:nvSpPr>
          <p:spPr>
            <a:xfrm flipH="false" flipV="false" rot="0">
              <a:off x="0" y="0"/>
              <a:ext cx="1935497" cy="529830"/>
            </a:xfrm>
            <a:custGeom>
              <a:avLst/>
              <a:gdLst/>
              <a:ahLst/>
              <a:cxnLst/>
              <a:rect r="r" b="b" t="t" l="l"/>
              <a:pathLst>
                <a:path h="529830" w="1935497">
                  <a:moveTo>
                    <a:pt x="0" y="0"/>
                  </a:moveTo>
                  <a:lnTo>
                    <a:pt x="1935497" y="0"/>
                  </a:lnTo>
                  <a:lnTo>
                    <a:pt x="1935497" y="529830"/>
                  </a:lnTo>
                  <a:lnTo>
                    <a:pt x="0" y="529830"/>
                  </a:lnTo>
                  <a:close/>
                </a:path>
              </a:pathLst>
            </a:custGeom>
            <a:solidFill>
              <a:srgbClr val="AD947E"/>
            </a:solidFill>
          </p:spPr>
        </p:sp>
        <p:sp>
          <p:nvSpPr>
            <p:cNvPr name="TextBox 10" id="10"/>
            <p:cNvSpPr txBox="true"/>
            <p:nvPr/>
          </p:nvSpPr>
          <p:spPr>
            <a:xfrm>
              <a:off x="0" y="-38100"/>
              <a:ext cx="1935497" cy="56793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649277" y="7299952"/>
            <a:ext cx="7029021" cy="1866896"/>
          </a:xfrm>
          <a:prstGeom prst="rect">
            <a:avLst/>
          </a:prstGeom>
        </p:spPr>
        <p:txBody>
          <a:bodyPr anchor="t" rtlCol="false" tIns="0" lIns="0" bIns="0" rIns="0">
            <a:spAutoFit/>
          </a:bodyPr>
          <a:lstStyle/>
          <a:p>
            <a:pPr algn="just">
              <a:lnSpc>
                <a:spcPts val="2462"/>
              </a:lnSpc>
            </a:pPr>
            <a:r>
              <a:rPr lang="en-US" sz="1759">
                <a:solidFill>
                  <a:srgbClr val="F4EEE7"/>
                </a:solidFill>
                <a:latin typeface="Glacial Indifference"/>
                <a:ea typeface="Glacial Indifference"/>
                <a:cs typeface="Glacial Indifference"/>
                <a:sym typeface="Glacial Indifference"/>
              </a:rPr>
              <a:t>Hybrid Quantum–Classical Models:</a:t>
            </a:r>
          </a:p>
          <a:p>
            <a:pPr algn="just" marL="379772" indent="-189886" lvl="1">
              <a:lnSpc>
                <a:spcPts val="2462"/>
              </a:lnSpc>
              <a:buFont typeface="Arial"/>
              <a:buChar char="•"/>
            </a:pPr>
            <a:r>
              <a:rPr lang="en-US" sz="1759">
                <a:solidFill>
                  <a:srgbClr val="F4EEE7"/>
                </a:solidFill>
                <a:latin typeface="Glacial Indifference"/>
                <a:ea typeface="Glacial Indifference"/>
                <a:cs typeface="Glacial Indifference"/>
                <a:sym typeface="Glacial Indifference"/>
              </a:rPr>
              <a:t>Combine quantum modules (like PQCs) with classical neural networks.</a:t>
            </a:r>
          </a:p>
          <a:p>
            <a:pPr algn="just" marL="379772" indent="-189886" lvl="1">
              <a:lnSpc>
                <a:spcPts val="2462"/>
              </a:lnSpc>
              <a:buFont typeface="Arial"/>
              <a:buChar char="•"/>
            </a:pPr>
            <a:r>
              <a:rPr lang="en-US" sz="1759">
                <a:solidFill>
                  <a:srgbClr val="F4EEE7"/>
                </a:solidFill>
                <a:latin typeface="Glacial Indifference"/>
                <a:ea typeface="Glacial Indifference"/>
                <a:cs typeface="Glacial Indifference"/>
                <a:sym typeface="Glacial Indifference"/>
              </a:rPr>
              <a:t>Aim: exploit the strengths of both worlds — quantum for high-dimensional feature space, classical for scalability and optimization.</a:t>
            </a:r>
          </a:p>
          <a:p>
            <a:pPr algn="just">
              <a:lnSpc>
                <a:spcPts val="2462"/>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4EEE7"/>
        </a:solidFill>
      </p:bgPr>
    </p:bg>
    <p:spTree>
      <p:nvGrpSpPr>
        <p:cNvPr id="1" name=""/>
        <p:cNvGrpSpPr/>
        <p:nvPr/>
      </p:nvGrpSpPr>
      <p:grpSpPr>
        <a:xfrm>
          <a:off x="0" y="0"/>
          <a:ext cx="0" cy="0"/>
          <a:chOff x="0" y="0"/>
          <a:chExt cx="0" cy="0"/>
        </a:xfrm>
      </p:grpSpPr>
      <p:sp>
        <p:nvSpPr>
          <p:cNvPr name="TextBox 2" id="2"/>
          <p:cNvSpPr txBox="true"/>
          <p:nvPr/>
        </p:nvSpPr>
        <p:spPr>
          <a:xfrm rot="0">
            <a:off x="1028700" y="2833370"/>
            <a:ext cx="16230600" cy="4563110"/>
          </a:xfrm>
          <a:prstGeom prst="rect">
            <a:avLst/>
          </a:prstGeom>
        </p:spPr>
        <p:txBody>
          <a:bodyPr anchor="t" rtlCol="false" tIns="0" lIns="0" bIns="0" rIns="0">
            <a:spAutoFit/>
          </a:bodyPr>
          <a:lstStyle/>
          <a:p>
            <a:pPr algn="just">
              <a:lnSpc>
                <a:spcPts val="3639"/>
              </a:lnSpc>
            </a:pPr>
            <a:r>
              <a:rPr lang="en-US" sz="2599">
                <a:solidFill>
                  <a:srgbClr val="866255"/>
                </a:solidFill>
                <a:latin typeface="Glacial Indifference"/>
                <a:ea typeface="Glacial Indifference"/>
                <a:cs typeface="Glacial Indifference"/>
                <a:sym typeface="Glacial Indifference"/>
              </a:rPr>
              <a:t>After integrating </a:t>
            </a:r>
            <a:r>
              <a:rPr lang="en-US" sz="2599" b="true">
                <a:solidFill>
                  <a:srgbClr val="866255"/>
                </a:solidFill>
                <a:latin typeface="Glacial Indifference Bold"/>
                <a:ea typeface="Glacial Indifference Bold"/>
                <a:cs typeface="Glacial Indifference Bold"/>
                <a:sym typeface="Glacial Indifference Bold"/>
              </a:rPr>
              <a:t>Quantum components with classical architecture</a:t>
            </a:r>
            <a:r>
              <a:rPr lang="en-US" sz="2599">
                <a:solidFill>
                  <a:srgbClr val="866255"/>
                </a:solidFill>
                <a:latin typeface="Glacial Indifference"/>
                <a:ea typeface="Glacial Indifference"/>
                <a:cs typeface="Glacial Indifference"/>
                <a:sym typeface="Glacial Indifference"/>
              </a:rPr>
              <a:t>, a pragmatic solution to harness quantum capabilities while mitigating the limitations mentioned before.</a:t>
            </a:r>
          </a:p>
          <a:p>
            <a:pPr algn="just">
              <a:lnSpc>
                <a:spcPts val="3639"/>
              </a:lnSpc>
            </a:pPr>
          </a:p>
          <a:p>
            <a:pPr algn="just">
              <a:lnSpc>
                <a:spcPts val="3639"/>
              </a:lnSpc>
            </a:pPr>
            <a:r>
              <a:rPr lang="en-US" sz="2599">
                <a:solidFill>
                  <a:srgbClr val="866255"/>
                </a:solidFill>
                <a:latin typeface="Glacial Indifference"/>
                <a:ea typeface="Glacial Indifference"/>
                <a:cs typeface="Glacial Indifference"/>
                <a:sym typeface="Glacial Indifference"/>
              </a:rPr>
              <a:t>Current hybrid approaches predominantly follow parallel or serial paradigms. While these models have demonstrated </a:t>
            </a:r>
            <a:r>
              <a:rPr lang="en-US" sz="2599" b="true">
                <a:solidFill>
                  <a:srgbClr val="866255"/>
                </a:solidFill>
                <a:latin typeface="Glacial Indifference Bold"/>
                <a:ea typeface="Glacial Indifference Bold"/>
                <a:cs typeface="Glacial Indifference Bold"/>
                <a:sym typeface="Glacial Indifference Bold"/>
              </a:rPr>
              <a:t>performance advantages and promise across various tasks</a:t>
            </a:r>
            <a:r>
              <a:rPr lang="en-US" sz="2599">
                <a:solidFill>
                  <a:srgbClr val="866255"/>
                </a:solidFill>
                <a:latin typeface="Glacial Indifference"/>
                <a:ea typeface="Glacial Indifference"/>
                <a:cs typeface="Glacial Indifference"/>
                <a:sym typeface="Glacial Indifference"/>
              </a:rPr>
              <a:t>, they often exhibit drawbacks.</a:t>
            </a: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 </a:t>
            </a:r>
            <a:r>
              <a:rPr lang="en-US" b="true" sz="2599">
                <a:solidFill>
                  <a:srgbClr val="866255"/>
                </a:solidFill>
                <a:latin typeface="Glacial Indifference Bold"/>
                <a:ea typeface="Glacial Indifference Bold"/>
                <a:cs typeface="Glacial Indifference Bold"/>
                <a:sym typeface="Glacial Indifference Bold"/>
              </a:rPr>
              <a:t>Parallel architectures</a:t>
            </a:r>
            <a:r>
              <a:rPr lang="en-US" sz="2599">
                <a:solidFill>
                  <a:srgbClr val="866255"/>
                </a:solidFill>
                <a:latin typeface="Glacial Indifference"/>
                <a:ea typeface="Glacial Indifference"/>
                <a:cs typeface="Glacial Indifference"/>
                <a:sym typeface="Glacial Indifference"/>
              </a:rPr>
              <a:t> can suffer from </a:t>
            </a:r>
            <a:r>
              <a:rPr lang="en-US" b="true" sz="2599">
                <a:solidFill>
                  <a:srgbClr val="866255"/>
                </a:solidFill>
                <a:latin typeface="Glacial Indifference Bold"/>
                <a:ea typeface="Glacial Indifference Bold"/>
                <a:cs typeface="Glacial Indifference Bold"/>
                <a:sym typeface="Glacial Indifference Bold"/>
              </a:rPr>
              <a:t>inefficiencies and information loss during data conversion</a:t>
            </a:r>
            <a:r>
              <a:rPr lang="en-US" sz="2599">
                <a:solidFill>
                  <a:srgbClr val="866255"/>
                </a:solidFill>
                <a:latin typeface="Glacial Indifference"/>
                <a:ea typeface="Glacial Indifference"/>
                <a:cs typeface="Glacial Indifference"/>
                <a:sym typeface="Glacial Indifference"/>
              </a:rPr>
              <a:t>.</a:t>
            </a:r>
          </a:p>
          <a:p>
            <a:pPr algn="just" marL="561339" indent="-280669" lvl="1">
              <a:lnSpc>
                <a:spcPts val="3639"/>
              </a:lnSpc>
              <a:buFont typeface="Arial"/>
              <a:buChar char="•"/>
            </a:pPr>
            <a:r>
              <a:rPr lang="en-US" sz="2599">
                <a:solidFill>
                  <a:srgbClr val="866255"/>
                </a:solidFill>
                <a:latin typeface="Glacial Indifference"/>
                <a:ea typeface="Glacial Indifference"/>
                <a:cs typeface="Glacial Indifference"/>
                <a:sym typeface="Glacial Indifference"/>
              </a:rPr>
              <a:t> </a:t>
            </a:r>
            <a:r>
              <a:rPr lang="en-US" b="true" sz="2599">
                <a:solidFill>
                  <a:srgbClr val="866255"/>
                </a:solidFill>
                <a:latin typeface="Glacial Indifference Bold"/>
                <a:ea typeface="Glacial Indifference Bold"/>
                <a:cs typeface="Glacial Indifference Bold"/>
                <a:sym typeface="Glacial Indifference Bold"/>
              </a:rPr>
              <a:t>Serial architectures</a:t>
            </a:r>
            <a:r>
              <a:rPr lang="en-US" sz="2599">
                <a:solidFill>
                  <a:srgbClr val="866255"/>
                </a:solidFill>
                <a:latin typeface="Glacial Indifference"/>
                <a:ea typeface="Glacial Indifference"/>
                <a:cs typeface="Glacial Indifference"/>
                <a:sym typeface="Glacial Indifference"/>
              </a:rPr>
              <a:t> demand </a:t>
            </a:r>
            <a:r>
              <a:rPr lang="en-US" b="true" sz="2599">
                <a:solidFill>
                  <a:srgbClr val="866255"/>
                </a:solidFill>
                <a:latin typeface="Glacial Indifference Bold"/>
                <a:ea typeface="Glacial Indifference Bold"/>
                <a:cs typeface="Glacial Indifference Bold"/>
                <a:sym typeface="Glacial Indifference Bold"/>
              </a:rPr>
              <a:t>extensive quantum resources</a:t>
            </a:r>
            <a:r>
              <a:rPr lang="en-US" sz="2599">
                <a:solidFill>
                  <a:srgbClr val="866255"/>
                </a:solidFill>
                <a:latin typeface="Glacial Indifference"/>
                <a:ea typeface="Glacial Indifference"/>
                <a:cs typeface="Glacial Indifference"/>
                <a:sym typeface="Glacial Indifference"/>
              </a:rPr>
              <a:t> unsuitable for high-dimensional inputs.</a:t>
            </a:r>
          </a:p>
          <a:p>
            <a:pPr algn="just">
              <a:lnSpc>
                <a:spcPts val="3639"/>
              </a:lnSpc>
            </a:pPr>
          </a:p>
          <a:p>
            <a:pPr algn="just">
              <a:lnSpc>
                <a:spcPts val="3639"/>
              </a:lnSpc>
            </a:pPr>
            <a:r>
              <a:rPr lang="en-US" sz="2599">
                <a:solidFill>
                  <a:srgbClr val="866255"/>
                </a:solidFill>
                <a:latin typeface="Glacial Indifference"/>
                <a:ea typeface="Glacial Indifference"/>
                <a:cs typeface="Glacial Indifference"/>
                <a:sym typeface="Glacial Indifference"/>
              </a:rPr>
              <a:t>Thus, developing a new hybrid architecture that enhances the synergy between quantum and classical components and overcomes these specific issues is crucial. </a:t>
            </a:r>
          </a:p>
        </p:txBody>
      </p:sp>
      <p:sp>
        <p:nvSpPr>
          <p:cNvPr name="TextBox 3" id="3"/>
          <p:cNvSpPr txBox="true"/>
          <p:nvPr/>
        </p:nvSpPr>
        <p:spPr>
          <a:xfrm rot="0">
            <a:off x="1028700" y="1302842"/>
            <a:ext cx="9022527" cy="949581"/>
          </a:xfrm>
          <a:prstGeom prst="rect">
            <a:avLst/>
          </a:prstGeom>
        </p:spPr>
        <p:txBody>
          <a:bodyPr anchor="t" rtlCol="false" tIns="0" lIns="0" bIns="0" rIns="0">
            <a:spAutoFit/>
          </a:bodyPr>
          <a:lstStyle/>
          <a:p>
            <a:pPr algn="l">
              <a:lnSpc>
                <a:spcPts val="7493"/>
              </a:lnSpc>
            </a:pPr>
            <a:r>
              <a:rPr lang="en-US" sz="6350" b="true">
                <a:solidFill>
                  <a:srgbClr val="866255"/>
                </a:solidFill>
                <a:latin typeface="Glacial Indifference Bold"/>
                <a:ea typeface="Glacial Indifference Bold"/>
                <a:cs typeface="Glacial Indifference Bold"/>
                <a:sym typeface="Glacial Indifference Bold"/>
              </a:rPr>
              <a:t>Follow problem analysis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EEE7"/>
        </a:solidFill>
      </p:bgPr>
    </p:bg>
    <p:spTree>
      <p:nvGrpSpPr>
        <p:cNvPr id="1" name=""/>
        <p:cNvGrpSpPr/>
        <p:nvPr/>
      </p:nvGrpSpPr>
      <p:grpSpPr>
        <a:xfrm>
          <a:off x="0" y="0"/>
          <a:ext cx="0" cy="0"/>
          <a:chOff x="0" y="0"/>
          <a:chExt cx="0" cy="0"/>
        </a:xfrm>
      </p:grpSpPr>
      <p:sp>
        <p:nvSpPr>
          <p:cNvPr name="Freeform 2" id="2"/>
          <p:cNvSpPr/>
          <p:nvPr/>
        </p:nvSpPr>
        <p:spPr>
          <a:xfrm flipH="false" flipV="false" rot="0">
            <a:off x="4881569" y="3078398"/>
            <a:ext cx="8524863" cy="6179902"/>
          </a:xfrm>
          <a:custGeom>
            <a:avLst/>
            <a:gdLst/>
            <a:ahLst/>
            <a:cxnLst/>
            <a:rect r="r" b="b" t="t" l="l"/>
            <a:pathLst>
              <a:path h="6179902" w="8524863">
                <a:moveTo>
                  <a:pt x="0" y="0"/>
                </a:moveTo>
                <a:lnTo>
                  <a:pt x="8524862" y="0"/>
                </a:lnTo>
                <a:lnTo>
                  <a:pt x="8524862" y="6179902"/>
                </a:lnTo>
                <a:lnTo>
                  <a:pt x="0" y="6179902"/>
                </a:lnTo>
                <a:lnTo>
                  <a:pt x="0" y="0"/>
                </a:lnTo>
                <a:close/>
              </a:path>
            </a:pathLst>
          </a:custGeom>
          <a:blipFill>
            <a:blip r:embed="rId2"/>
            <a:stretch>
              <a:fillRect l="0" t="0" r="-18624" b="0"/>
            </a:stretch>
          </a:blipFill>
        </p:spPr>
      </p:sp>
      <p:sp>
        <p:nvSpPr>
          <p:cNvPr name="TextBox 3" id="3"/>
          <p:cNvSpPr txBox="true"/>
          <p:nvPr/>
        </p:nvSpPr>
        <p:spPr>
          <a:xfrm rot="0">
            <a:off x="1622127" y="1053923"/>
            <a:ext cx="15043746" cy="1226820"/>
          </a:xfrm>
          <a:prstGeom prst="rect">
            <a:avLst/>
          </a:prstGeom>
        </p:spPr>
        <p:txBody>
          <a:bodyPr anchor="t" rtlCol="false" tIns="0" lIns="0" bIns="0" rIns="0">
            <a:spAutoFit/>
          </a:bodyPr>
          <a:lstStyle/>
          <a:p>
            <a:pPr algn="ctr">
              <a:lnSpc>
                <a:spcPts val="10080"/>
              </a:lnSpc>
              <a:spcBef>
                <a:spcPct val="0"/>
              </a:spcBef>
            </a:pPr>
            <a:r>
              <a:rPr lang="en-US" b="true" sz="7200">
                <a:solidFill>
                  <a:srgbClr val="866255"/>
                </a:solidFill>
                <a:latin typeface="Glacial Indifference Bold"/>
                <a:ea typeface="Glacial Indifference Bold"/>
                <a:cs typeface="Glacial Indifference Bold"/>
                <a:sym typeface="Glacial Indifference Bold"/>
              </a:rPr>
              <a:t>How the human Visual System work</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4EEE7"/>
        </a:solidFill>
      </p:bgPr>
    </p:bg>
    <p:spTree>
      <p:nvGrpSpPr>
        <p:cNvPr id="1" name=""/>
        <p:cNvGrpSpPr/>
        <p:nvPr/>
      </p:nvGrpSpPr>
      <p:grpSpPr>
        <a:xfrm>
          <a:off x="0" y="0"/>
          <a:ext cx="0" cy="0"/>
          <a:chOff x="0" y="0"/>
          <a:chExt cx="0" cy="0"/>
        </a:xfrm>
      </p:grpSpPr>
      <p:sp>
        <p:nvSpPr>
          <p:cNvPr name="TextBox 2" id="2"/>
          <p:cNvSpPr txBox="true"/>
          <p:nvPr/>
        </p:nvSpPr>
        <p:spPr>
          <a:xfrm rot="0">
            <a:off x="-569193" y="1335920"/>
            <a:ext cx="19426386" cy="2430369"/>
          </a:xfrm>
          <a:prstGeom prst="rect">
            <a:avLst/>
          </a:prstGeom>
        </p:spPr>
        <p:txBody>
          <a:bodyPr anchor="t" rtlCol="false" tIns="0" lIns="0" bIns="0" rIns="0">
            <a:spAutoFit/>
          </a:bodyPr>
          <a:lstStyle/>
          <a:p>
            <a:pPr algn="ctr">
              <a:lnSpc>
                <a:spcPts val="9544"/>
              </a:lnSpc>
            </a:pPr>
            <a:r>
              <a:rPr lang="en-US" sz="8088" b="true">
                <a:solidFill>
                  <a:srgbClr val="866255"/>
                </a:solidFill>
                <a:latin typeface="Canva Sans Bold"/>
                <a:ea typeface="Canva Sans Bold"/>
                <a:cs typeface="Canva Sans Bold"/>
                <a:sym typeface="Canva Sans Bold"/>
              </a:rPr>
              <a:t>The Solution: BIQC via Guiding paradigm</a:t>
            </a:r>
          </a:p>
        </p:txBody>
      </p:sp>
      <p:sp>
        <p:nvSpPr>
          <p:cNvPr name="TextBox 3" id="3"/>
          <p:cNvSpPr txBox="true"/>
          <p:nvPr/>
        </p:nvSpPr>
        <p:spPr>
          <a:xfrm rot="0">
            <a:off x="1028700" y="4567424"/>
            <a:ext cx="16230600" cy="772795"/>
          </a:xfrm>
          <a:prstGeom prst="rect">
            <a:avLst/>
          </a:prstGeom>
        </p:spPr>
        <p:txBody>
          <a:bodyPr anchor="t" rtlCol="false" tIns="0" lIns="0" bIns="0" rIns="0">
            <a:spAutoFit/>
          </a:bodyPr>
          <a:lstStyle/>
          <a:p>
            <a:pPr algn="ctr">
              <a:lnSpc>
                <a:spcPts val="3079"/>
              </a:lnSpc>
            </a:pPr>
            <a:r>
              <a:rPr lang="en-US" sz="2199">
                <a:solidFill>
                  <a:srgbClr val="866255"/>
                </a:solidFill>
                <a:latin typeface="Glacial Indifference"/>
                <a:ea typeface="Glacial Indifference"/>
                <a:cs typeface="Glacial Indifference"/>
                <a:sym typeface="Glacial Indifference"/>
              </a:rPr>
              <a:t>Inspired by the human visual system that is of dual channel , the BIQC “Brain-Inspired Quantum Classifier via the guiding paradigm is introduced solving all previous problem and outperforms some currently classical and quantum algorithms   </a:t>
            </a:r>
          </a:p>
        </p:txBody>
      </p:sp>
      <p:sp>
        <p:nvSpPr>
          <p:cNvPr name="TextBox 4" id="4"/>
          <p:cNvSpPr txBox="true"/>
          <p:nvPr/>
        </p:nvSpPr>
        <p:spPr>
          <a:xfrm rot="0">
            <a:off x="2237414" y="5725732"/>
            <a:ext cx="13813171" cy="2380615"/>
          </a:xfrm>
          <a:prstGeom prst="rect">
            <a:avLst/>
          </a:prstGeom>
        </p:spPr>
        <p:txBody>
          <a:bodyPr anchor="t" rtlCol="false" tIns="0" lIns="0" bIns="0" rIns="0">
            <a:spAutoFit/>
          </a:bodyPr>
          <a:lstStyle/>
          <a:p>
            <a:pPr algn="ctr">
              <a:lnSpc>
                <a:spcPts val="4759"/>
              </a:lnSpc>
            </a:pPr>
            <a:r>
              <a:rPr lang="en-US" sz="3399">
                <a:solidFill>
                  <a:srgbClr val="866255"/>
                </a:solidFill>
                <a:latin typeface="Canva Sans"/>
                <a:ea typeface="Canva Sans"/>
                <a:cs typeface="Canva Sans"/>
                <a:sym typeface="Canva Sans"/>
              </a:rPr>
              <a:t>The aim:</a:t>
            </a:r>
          </a:p>
          <a:p>
            <a:pPr algn="ctr" marL="734059" indent="-367030" lvl="1">
              <a:lnSpc>
                <a:spcPts val="4759"/>
              </a:lnSpc>
              <a:buFont typeface="Arial"/>
              <a:buChar char="•"/>
            </a:pPr>
            <a:r>
              <a:rPr lang="en-US" sz="3399">
                <a:solidFill>
                  <a:srgbClr val="866255"/>
                </a:solidFill>
                <a:latin typeface="Canva Sans"/>
                <a:ea typeface="Canva Sans"/>
                <a:cs typeface="Canva Sans"/>
                <a:sym typeface="Canva Sans"/>
              </a:rPr>
              <a:t>M</a:t>
            </a:r>
            <a:r>
              <a:rPr lang="en-US" sz="3399">
                <a:solidFill>
                  <a:srgbClr val="866255"/>
                </a:solidFill>
                <a:latin typeface="Canva Sans"/>
                <a:ea typeface="Canva Sans"/>
                <a:cs typeface="Canva Sans"/>
                <a:sym typeface="Canva Sans"/>
              </a:rPr>
              <a:t>itigating  qubit limitations ( preserving quantum resources).  </a:t>
            </a:r>
          </a:p>
          <a:p>
            <a:pPr algn="ctr" marL="734059" indent="-367030" lvl="1">
              <a:lnSpc>
                <a:spcPts val="4759"/>
              </a:lnSpc>
              <a:buFont typeface="Arial"/>
              <a:buChar char="•"/>
            </a:pPr>
            <a:r>
              <a:rPr lang="en-US" sz="3399">
                <a:solidFill>
                  <a:srgbClr val="866255"/>
                </a:solidFill>
                <a:latin typeface="Canva Sans"/>
                <a:ea typeface="Canva Sans"/>
                <a:cs typeface="Canva Sans"/>
                <a:sym typeface="Canva Sans"/>
              </a:rPr>
              <a:t> Minimizes information loss from repeated data transformation</a:t>
            </a:r>
          </a:p>
          <a:p>
            <a:pPr algn="ctr" marL="734059" indent="-367030" lvl="1">
              <a:lnSpc>
                <a:spcPts val="4759"/>
              </a:lnSpc>
              <a:buFont typeface="Arial"/>
              <a:buChar char="•"/>
            </a:pPr>
            <a:r>
              <a:rPr lang="en-US" sz="3399">
                <a:solidFill>
                  <a:srgbClr val="866255"/>
                </a:solidFill>
                <a:latin typeface="Canva Sans"/>
                <a:ea typeface="Canva Sans"/>
                <a:cs typeface="Canva Sans"/>
                <a:sym typeface="Canva Sans"/>
              </a:rPr>
              <a:t>Computer vision task with high efficiency and generalization.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EEE7"/>
        </a:solidFill>
      </p:bgPr>
    </p:bg>
    <p:spTree>
      <p:nvGrpSpPr>
        <p:cNvPr id="1" name=""/>
        <p:cNvGrpSpPr/>
        <p:nvPr/>
      </p:nvGrpSpPr>
      <p:grpSpPr>
        <a:xfrm>
          <a:off x="0" y="0"/>
          <a:ext cx="0" cy="0"/>
          <a:chOff x="0" y="0"/>
          <a:chExt cx="0" cy="0"/>
        </a:xfrm>
      </p:grpSpPr>
      <p:sp>
        <p:nvSpPr>
          <p:cNvPr name="Freeform 2" id="2"/>
          <p:cNvSpPr/>
          <p:nvPr/>
        </p:nvSpPr>
        <p:spPr>
          <a:xfrm flipH="false" flipV="false" rot="0">
            <a:off x="4380548" y="5143500"/>
            <a:ext cx="9526903" cy="4766472"/>
          </a:xfrm>
          <a:custGeom>
            <a:avLst/>
            <a:gdLst/>
            <a:ahLst/>
            <a:cxnLst/>
            <a:rect r="r" b="b" t="t" l="l"/>
            <a:pathLst>
              <a:path h="4766472" w="9526903">
                <a:moveTo>
                  <a:pt x="0" y="0"/>
                </a:moveTo>
                <a:lnTo>
                  <a:pt x="9526904" y="0"/>
                </a:lnTo>
                <a:lnTo>
                  <a:pt x="9526904" y="4766472"/>
                </a:lnTo>
                <a:lnTo>
                  <a:pt x="0" y="4766472"/>
                </a:lnTo>
                <a:lnTo>
                  <a:pt x="0" y="0"/>
                </a:lnTo>
                <a:close/>
              </a:path>
            </a:pathLst>
          </a:custGeom>
          <a:blipFill>
            <a:blip r:embed="rId2"/>
            <a:stretch>
              <a:fillRect l="0" t="0" r="0" b="0"/>
            </a:stretch>
          </a:blipFill>
        </p:spPr>
      </p:sp>
      <p:sp>
        <p:nvSpPr>
          <p:cNvPr name="TextBox 3" id="3"/>
          <p:cNvSpPr txBox="true"/>
          <p:nvPr/>
        </p:nvSpPr>
        <p:spPr>
          <a:xfrm rot="0">
            <a:off x="730254" y="942975"/>
            <a:ext cx="16244095" cy="811530"/>
          </a:xfrm>
          <a:prstGeom prst="rect">
            <a:avLst/>
          </a:prstGeom>
        </p:spPr>
        <p:txBody>
          <a:bodyPr anchor="t" rtlCol="false" tIns="0" lIns="0" bIns="0" rIns="0">
            <a:spAutoFit/>
          </a:bodyPr>
          <a:lstStyle/>
          <a:p>
            <a:pPr algn="ctr">
              <a:lnSpc>
                <a:spcPts val="6719"/>
              </a:lnSpc>
            </a:pPr>
            <a:r>
              <a:rPr lang="en-US" sz="4800" b="true">
                <a:solidFill>
                  <a:srgbClr val="866255"/>
                </a:solidFill>
                <a:latin typeface="Canva Sans Bold"/>
                <a:ea typeface="Canva Sans Bold"/>
                <a:cs typeface="Canva Sans Bold"/>
                <a:sym typeface="Canva Sans Bold"/>
              </a:rPr>
              <a:t>Guiding paradigm</a:t>
            </a:r>
            <a:r>
              <a:rPr lang="en-US" sz="4800">
                <a:solidFill>
                  <a:srgbClr val="866255"/>
                </a:solidFill>
                <a:latin typeface="Canva Sans"/>
                <a:ea typeface="Canva Sans"/>
                <a:cs typeface="Canva Sans"/>
                <a:sym typeface="Canva Sans"/>
              </a:rPr>
              <a:t> </a:t>
            </a:r>
            <a:r>
              <a:rPr lang="en-US" sz="4800" b="true">
                <a:solidFill>
                  <a:srgbClr val="866255"/>
                </a:solidFill>
                <a:latin typeface="Canva Sans Bold"/>
                <a:ea typeface="Canva Sans Bold"/>
                <a:cs typeface="Canva Sans Bold"/>
                <a:sym typeface="Canva Sans Bold"/>
              </a:rPr>
              <a:t>and the complementary application</a:t>
            </a:r>
            <a:r>
              <a:rPr lang="en-US" sz="4800">
                <a:solidFill>
                  <a:srgbClr val="000000"/>
                </a:solidFill>
                <a:latin typeface="Canva Sans"/>
                <a:ea typeface="Canva Sans"/>
                <a:cs typeface="Canva Sans"/>
                <a:sym typeface="Canva Sans"/>
              </a:rPr>
              <a:t> </a:t>
            </a:r>
          </a:p>
        </p:txBody>
      </p:sp>
      <p:sp>
        <p:nvSpPr>
          <p:cNvPr name="TextBox 4" id="4"/>
          <p:cNvSpPr txBox="true"/>
          <p:nvPr/>
        </p:nvSpPr>
        <p:spPr>
          <a:xfrm rot="0">
            <a:off x="430269" y="2072622"/>
            <a:ext cx="17247172" cy="2314575"/>
          </a:xfrm>
          <a:prstGeom prst="rect">
            <a:avLst/>
          </a:prstGeom>
        </p:spPr>
        <p:txBody>
          <a:bodyPr anchor="t" rtlCol="false" tIns="0" lIns="0" bIns="0" rIns="0">
            <a:spAutoFit/>
          </a:bodyPr>
          <a:lstStyle/>
          <a:p>
            <a:pPr algn="ctr">
              <a:lnSpc>
                <a:spcPts val="2940"/>
              </a:lnSpc>
            </a:pPr>
            <a:r>
              <a:rPr lang="en-US" sz="2100">
                <a:solidFill>
                  <a:srgbClr val="866255"/>
                </a:solidFill>
                <a:latin typeface="Glacial Indifference"/>
                <a:ea typeface="Glacial Indifference"/>
                <a:cs typeface="Glacial Indifference"/>
                <a:sym typeface="Glacial Indifference"/>
              </a:rPr>
              <a:t>The Guiding Paradigm effectively localizes a 32 × 32 HSF patch encompassing the bird’s rectrices (tail feathers). Detailed analysis of this patch reveals subtle textures, such as the organic texture of feathers compared to the metallic surface of an airplane rudder, which might be overlooked by traditional networks focusing solely on global features. This targeted approach allows for </a:t>
            </a:r>
            <a:r>
              <a:rPr lang="en-US" sz="2100" b="true">
                <a:solidFill>
                  <a:srgbClr val="866255"/>
                </a:solidFill>
                <a:latin typeface="Glacial Indifference Bold"/>
                <a:ea typeface="Glacial Indifference Bold"/>
                <a:cs typeface="Glacial Indifference Bold"/>
                <a:sym typeface="Glacial Indifference Bold"/>
              </a:rPr>
              <a:t>efficient allocation of quantum resources to the most discriminative local regions, thereby enhancing classification accuracy</a:t>
            </a:r>
            <a:r>
              <a:rPr lang="en-US" sz="2100">
                <a:solidFill>
                  <a:srgbClr val="866255"/>
                </a:solidFill>
                <a:latin typeface="Glacial Indifference"/>
                <a:ea typeface="Glacial Indifference"/>
                <a:cs typeface="Glacial Indifference"/>
                <a:sym typeface="Glacial Indifference"/>
              </a:rPr>
              <a:t>. </a:t>
            </a:r>
          </a:p>
          <a:p>
            <a:pPr algn="ctr">
              <a:lnSpc>
                <a:spcPts val="3359"/>
              </a:lnSpc>
              <a:spcBef>
                <a:spcPct val="0"/>
              </a:spcBef>
            </a:pPr>
            <a:r>
              <a:rPr lang="en-US" b="true" sz="2400">
                <a:solidFill>
                  <a:srgbClr val="866255"/>
                </a:solidFill>
                <a:latin typeface="Glacial Indifference Bold"/>
                <a:ea typeface="Glacial Indifference Bold"/>
                <a:cs typeface="Glacial Indifference Bold"/>
                <a:sym typeface="Glacial Indifference Bold"/>
              </a:rPr>
              <a:t>By confining quantum operations to HSF-rich patches, our paradigm capitalizes on quantum representational strengths without incurring the excessive resource demands.</a:t>
            </a:r>
          </a:p>
        </p:txBody>
      </p:sp>
      <p:sp>
        <p:nvSpPr>
          <p:cNvPr name="TextBox 5" id="5"/>
          <p:cNvSpPr txBox="true"/>
          <p:nvPr/>
        </p:nvSpPr>
        <p:spPr>
          <a:xfrm rot="0">
            <a:off x="650783" y="5703016"/>
            <a:ext cx="3459903" cy="3580765"/>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Parallel</a:t>
            </a:r>
            <a:r>
              <a:rPr lang="en-US" sz="3399">
                <a:solidFill>
                  <a:srgbClr val="000000"/>
                </a:solidFill>
                <a:latin typeface="Canva Sans"/>
                <a:ea typeface="Canva Sans"/>
                <a:cs typeface="Canva Sans"/>
                <a:sym typeface="Canva Sans"/>
              </a:rPr>
              <a:t> (quantum an</a:t>
            </a:r>
            <a:r>
              <a:rPr lang="en-US" sz="3399">
                <a:solidFill>
                  <a:srgbClr val="000000"/>
                </a:solidFill>
                <a:latin typeface="Canva Sans"/>
                <a:ea typeface="Canva Sans"/>
                <a:cs typeface="Canva Sans"/>
                <a:sym typeface="Canva Sans"/>
              </a:rPr>
              <a:t>d classical filters process raw input simultaneously)  </a:t>
            </a:r>
          </a:p>
        </p:txBody>
      </p:sp>
      <p:sp>
        <p:nvSpPr>
          <p:cNvPr name="TextBox 6" id="6"/>
          <p:cNvSpPr txBox="true"/>
          <p:nvPr/>
        </p:nvSpPr>
        <p:spPr>
          <a:xfrm rot="0">
            <a:off x="14174152" y="5703016"/>
            <a:ext cx="3469428" cy="3580765"/>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Serial</a:t>
            </a:r>
            <a:r>
              <a:rPr lang="en-US" sz="3399">
                <a:solidFill>
                  <a:srgbClr val="000000"/>
                </a:solidFill>
                <a:latin typeface="Canva Sans"/>
                <a:ea typeface="Canva Sans"/>
                <a:cs typeface="Canva Sans"/>
                <a:sym typeface="Canva Sans"/>
              </a:rPr>
              <a:t> (quantum component processes hidden states from classical network)</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4EEE7"/>
        </a:solidFill>
      </p:bgPr>
    </p:bg>
    <p:spTree>
      <p:nvGrpSpPr>
        <p:cNvPr id="1" name=""/>
        <p:cNvGrpSpPr/>
        <p:nvPr/>
      </p:nvGrpSpPr>
      <p:grpSpPr>
        <a:xfrm>
          <a:off x="0" y="0"/>
          <a:ext cx="0" cy="0"/>
          <a:chOff x="0" y="0"/>
          <a:chExt cx="0" cy="0"/>
        </a:xfrm>
      </p:grpSpPr>
      <p:sp>
        <p:nvSpPr>
          <p:cNvPr name="TextBox 2" id="2"/>
          <p:cNvSpPr txBox="true"/>
          <p:nvPr/>
        </p:nvSpPr>
        <p:spPr>
          <a:xfrm rot="0">
            <a:off x="4484675" y="316230"/>
            <a:ext cx="9120188" cy="712470"/>
          </a:xfrm>
          <a:prstGeom prst="rect">
            <a:avLst/>
          </a:prstGeom>
        </p:spPr>
        <p:txBody>
          <a:bodyPr anchor="t" rtlCol="false" tIns="0" lIns="0" bIns="0" rIns="0">
            <a:spAutoFit/>
          </a:bodyPr>
          <a:lstStyle/>
          <a:p>
            <a:pPr algn="ctr">
              <a:lnSpc>
                <a:spcPts val="5880"/>
              </a:lnSpc>
            </a:pPr>
            <a:r>
              <a:rPr lang="en-US" sz="4200" b="true">
                <a:solidFill>
                  <a:srgbClr val="866255"/>
                </a:solidFill>
                <a:latin typeface="Canva Sans Bold"/>
                <a:ea typeface="Canva Sans Bold"/>
                <a:cs typeface="Canva Sans Bold"/>
                <a:sym typeface="Canva Sans Bold"/>
              </a:rPr>
              <a:t>Paper defaults in implementations</a:t>
            </a:r>
            <a:r>
              <a:rPr lang="en-US" sz="4200">
                <a:solidFill>
                  <a:srgbClr val="000000"/>
                </a:solidFill>
                <a:latin typeface="Canva Sans"/>
                <a:ea typeface="Canva Sans"/>
                <a:cs typeface="Canva Sans"/>
                <a:sym typeface="Canva Sans"/>
              </a:rPr>
              <a:t> </a:t>
            </a:r>
          </a:p>
        </p:txBody>
      </p:sp>
      <p:sp>
        <p:nvSpPr>
          <p:cNvPr name="TextBox 3" id="3"/>
          <p:cNvSpPr txBox="true"/>
          <p:nvPr/>
        </p:nvSpPr>
        <p:spPr>
          <a:xfrm rot="0">
            <a:off x="598853" y="1257369"/>
            <a:ext cx="16891832" cy="7564311"/>
          </a:xfrm>
          <a:prstGeom prst="rect">
            <a:avLst/>
          </a:prstGeom>
        </p:spPr>
        <p:txBody>
          <a:bodyPr anchor="t" rtlCol="false" tIns="0" lIns="0" bIns="0" rIns="0">
            <a:spAutoFit/>
          </a:bodyPr>
          <a:lstStyle/>
          <a:p>
            <a:pPr algn="l">
              <a:lnSpc>
                <a:spcPts val="3359"/>
              </a:lnSpc>
            </a:pPr>
            <a:r>
              <a:rPr lang="en-US" sz="2400">
                <a:solidFill>
                  <a:srgbClr val="866255"/>
                </a:solidFill>
                <a:latin typeface="Canva Sans"/>
                <a:ea typeface="Canva Sans"/>
                <a:cs typeface="Canva Sans"/>
                <a:sym typeface="Canva Sans"/>
              </a:rPr>
              <a:t>I</a:t>
            </a:r>
            <a:r>
              <a:rPr lang="en-US" sz="2400" b="true">
                <a:solidFill>
                  <a:srgbClr val="866255"/>
                </a:solidFill>
                <a:latin typeface="Canva Sans Bold"/>
                <a:ea typeface="Canva Sans Bold"/>
                <a:cs typeface="Canva Sans Bold"/>
                <a:sym typeface="Canva Sans Bold"/>
              </a:rPr>
              <a:t>mages preprocessing and modeling defaults:</a:t>
            </a:r>
          </a:p>
          <a:p>
            <a:pPr algn="l">
              <a:lnSpc>
                <a:spcPts val="3705"/>
              </a:lnSpc>
            </a:pPr>
          </a:p>
          <a:p>
            <a:pPr algn="l" marL="428556" indent="-214278" lvl="1">
              <a:lnSpc>
                <a:spcPts val="2778"/>
              </a:lnSpc>
              <a:buFont typeface="Arial"/>
              <a:buChar char="•"/>
            </a:pPr>
            <a:r>
              <a:rPr lang="en-US" sz="1984">
                <a:solidFill>
                  <a:srgbClr val="866255"/>
                </a:solidFill>
                <a:latin typeface="Canva Sans"/>
                <a:ea typeface="Canva Sans"/>
                <a:cs typeface="Canva Sans"/>
                <a:sym typeface="Canva Sans"/>
              </a:rPr>
              <a:t>They all should be of </a:t>
            </a:r>
            <a:r>
              <a:rPr lang="en-US" b="true" sz="1984">
                <a:solidFill>
                  <a:srgbClr val="866255"/>
                </a:solidFill>
                <a:latin typeface="Canva Sans Bold"/>
                <a:ea typeface="Canva Sans Bold"/>
                <a:cs typeface="Canva Sans Bold"/>
                <a:sym typeface="Canva Sans Bold"/>
              </a:rPr>
              <a:t>grayscale</a:t>
            </a:r>
            <a:r>
              <a:rPr lang="en-US" sz="1984">
                <a:solidFill>
                  <a:srgbClr val="866255"/>
                </a:solidFill>
                <a:latin typeface="Canva Sans"/>
                <a:ea typeface="Canva Sans"/>
                <a:cs typeface="Canva Sans"/>
                <a:sym typeface="Canva Sans"/>
              </a:rPr>
              <a:t> (of 1 channel)</a:t>
            </a:r>
            <a:r>
              <a:rPr lang="en-US" sz="1984">
                <a:solidFill>
                  <a:srgbClr val="000000"/>
                </a:solidFill>
                <a:latin typeface="Canva Sans"/>
                <a:ea typeface="Canva Sans"/>
                <a:cs typeface="Canva Sans"/>
                <a:sym typeface="Canva Sans"/>
              </a:rPr>
              <a:t>: to emphasize structural and frequency features</a:t>
            </a:r>
          </a:p>
          <a:p>
            <a:pPr algn="l">
              <a:lnSpc>
                <a:spcPts val="2778"/>
              </a:lnSpc>
            </a:pPr>
          </a:p>
          <a:p>
            <a:pPr algn="l" marL="428556" indent="-214278" lvl="1">
              <a:lnSpc>
                <a:spcPts val="2778"/>
              </a:lnSpc>
              <a:buFont typeface="Arial"/>
              <a:buChar char="•"/>
            </a:pPr>
            <a:r>
              <a:rPr lang="en-US" sz="1984">
                <a:solidFill>
                  <a:srgbClr val="866255"/>
                </a:solidFill>
                <a:latin typeface="Canva Sans"/>
                <a:ea typeface="Canva Sans"/>
                <a:cs typeface="Canva Sans"/>
                <a:sym typeface="Canva Sans"/>
              </a:rPr>
              <a:t>Applying </a:t>
            </a:r>
            <a:r>
              <a:rPr lang="en-US" b="true" sz="1984">
                <a:solidFill>
                  <a:srgbClr val="866255"/>
                </a:solidFill>
                <a:latin typeface="Canva Sans Bold"/>
                <a:ea typeface="Canva Sans Bold"/>
                <a:cs typeface="Canva Sans Bold"/>
                <a:sym typeface="Canva Sans Bold"/>
              </a:rPr>
              <a:t>Min-Max scalar to the range [− π 2 , + π 2 ]</a:t>
            </a:r>
            <a:r>
              <a:rPr lang="en-US" sz="1984">
                <a:solidFill>
                  <a:srgbClr val="000000"/>
                </a:solidFill>
                <a:latin typeface="Canva Sans"/>
                <a:ea typeface="Canva Sans"/>
                <a:cs typeface="Canva Sans"/>
                <a:sym typeface="Canva Sans"/>
              </a:rPr>
              <a:t>:</a:t>
            </a:r>
            <a:r>
              <a:rPr lang="en-US" b="true" sz="1984">
                <a:solidFill>
                  <a:srgbClr val="866255"/>
                </a:solidFill>
                <a:latin typeface="Canva Sans Bold"/>
                <a:ea typeface="Canva Sans Bold"/>
                <a:cs typeface="Canva Sans Bold"/>
                <a:sym typeface="Canva Sans Bold"/>
              </a:rPr>
              <a:t> </a:t>
            </a:r>
            <a:r>
              <a:rPr lang="en-US" sz="1984">
                <a:solidFill>
                  <a:srgbClr val="000000"/>
                </a:solidFill>
                <a:latin typeface="Canva Sans"/>
                <a:ea typeface="Canva Sans"/>
                <a:cs typeface="Canva Sans"/>
                <a:sym typeface="Canva Sans"/>
              </a:rPr>
              <a:t>to enhance training stability,  ensures stable encoding into rotation angles for quantum circuits; keeps amplitudes balanced, avoids vanishing/exploding gradients.</a:t>
            </a:r>
          </a:p>
          <a:p>
            <a:pPr algn="l">
              <a:lnSpc>
                <a:spcPts val="2778"/>
              </a:lnSpc>
            </a:pPr>
          </a:p>
          <a:p>
            <a:pPr algn="l" marL="428556" indent="-214278" lvl="1">
              <a:lnSpc>
                <a:spcPts val="2778"/>
              </a:lnSpc>
              <a:buFont typeface="Arial"/>
              <a:buChar char="•"/>
            </a:pPr>
            <a:r>
              <a:rPr lang="en-US" sz="1984">
                <a:solidFill>
                  <a:srgbClr val="866255"/>
                </a:solidFill>
                <a:latin typeface="Canva Sans"/>
                <a:ea typeface="Canva Sans"/>
                <a:cs typeface="Canva Sans"/>
                <a:sym typeface="Canva Sans"/>
              </a:rPr>
              <a:t> Model parameters are optimized with the </a:t>
            </a:r>
            <a:r>
              <a:rPr lang="en-US" b="true" sz="1984">
                <a:solidFill>
                  <a:srgbClr val="866255"/>
                </a:solidFill>
                <a:latin typeface="Canva Sans Bold"/>
                <a:ea typeface="Canva Sans Bold"/>
                <a:cs typeface="Canva Sans Bold"/>
                <a:sym typeface="Canva Sans Bold"/>
              </a:rPr>
              <a:t>AdamW optimizer</a:t>
            </a:r>
            <a:r>
              <a:rPr lang="en-US" sz="1984">
                <a:solidFill>
                  <a:srgbClr val="866255"/>
                </a:solidFill>
                <a:latin typeface="Canva Sans"/>
                <a:ea typeface="Canva Sans"/>
                <a:cs typeface="Canva Sans"/>
                <a:sym typeface="Canva Sans"/>
              </a:rPr>
              <a:t> with a </a:t>
            </a:r>
            <a:r>
              <a:rPr lang="en-US" b="true" sz="1984">
                <a:solidFill>
                  <a:srgbClr val="866255"/>
                </a:solidFill>
                <a:latin typeface="Canva Sans Bold"/>
                <a:ea typeface="Canva Sans Bold"/>
                <a:cs typeface="Canva Sans Bold"/>
                <a:sym typeface="Canva Sans Bold"/>
              </a:rPr>
              <a:t>learning rate of 1 × 10−3 </a:t>
            </a:r>
            <a:r>
              <a:rPr lang="en-US" sz="1984">
                <a:solidFill>
                  <a:srgbClr val="866255"/>
                </a:solidFill>
                <a:latin typeface="Canva Sans"/>
                <a:ea typeface="Canva Sans"/>
                <a:cs typeface="Canva Sans"/>
                <a:sym typeface="Canva Sans"/>
              </a:rPr>
              <a:t>and a </a:t>
            </a:r>
            <a:r>
              <a:rPr lang="en-US" b="true" sz="1984">
                <a:solidFill>
                  <a:srgbClr val="866255"/>
                </a:solidFill>
                <a:latin typeface="Canva Sans Bold"/>
                <a:ea typeface="Canva Sans Bold"/>
                <a:cs typeface="Canva Sans Bold"/>
                <a:sym typeface="Canva Sans Bold"/>
              </a:rPr>
              <a:t>weight decay of 5 × 10−4</a:t>
            </a:r>
            <a:r>
              <a:rPr lang="en-US" sz="1984">
                <a:solidFill>
                  <a:srgbClr val="866255"/>
                </a:solidFill>
                <a:latin typeface="Canva Sans"/>
                <a:ea typeface="Canva Sans"/>
                <a:cs typeface="Canva Sans"/>
                <a:sym typeface="Canva Sans"/>
              </a:rPr>
              <a:t> : </a:t>
            </a:r>
            <a:r>
              <a:rPr lang="en-US" sz="1984">
                <a:solidFill>
                  <a:srgbClr val="000000"/>
                </a:solidFill>
                <a:latin typeface="Canva Sans"/>
                <a:ea typeface="Canva Sans"/>
                <a:cs typeface="Canva Sans"/>
                <a:sym typeface="Canva Sans"/>
              </a:rPr>
              <a:t>stabilizes hybrid optimization while controlling overfitting</a:t>
            </a:r>
          </a:p>
          <a:p>
            <a:pPr algn="l">
              <a:lnSpc>
                <a:spcPts val="2778"/>
              </a:lnSpc>
            </a:pPr>
          </a:p>
          <a:p>
            <a:pPr algn="l" marL="428556" indent="-214278" lvl="1">
              <a:lnSpc>
                <a:spcPts val="2778"/>
              </a:lnSpc>
              <a:buFont typeface="Arial"/>
              <a:buChar char="•"/>
            </a:pPr>
            <a:r>
              <a:rPr lang="en-US" sz="1984">
                <a:solidFill>
                  <a:srgbClr val="866255"/>
                </a:solidFill>
                <a:latin typeface="Canva Sans"/>
                <a:ea typeface="Canva Sans"/>
                <a:cs typeface="Canva Sans"/>
                <a:sym typeface="Canva Sans"/>
              </a:rPr>
              <a:t> An </a:t>
            </a:r>
            <a:r>
              <a:rPr lang="en-US" b="true" sz="1984">
                <a:solidFill>
                  <a:srgbClr val="866255"/>
                </a:solidFill>
                <a:latin typeface="Canva Sans Bold"/>
                <a:ea typeface="Canva Sans Bold"/>
                <a:cs typeface="Canva Sans Bold"/>
                <a:sym typeface="Canva Sans Bold"/>
              </a:rPr>
              <a:t>early stopping strategy</a:t>
            </a:r>
            <a:r>
              <a:rPr lang="en-US" sz="1984">
                <a:solidFill>
                  <a:srgbClr val="866255"/>
                </a:solidFill>
                <a:latin typeface="Canva Sans"/>
                <a:ea typeface="Canva Sans"/>
                <a:cs typeface="Canva Sans"/>
                <a:sym typeface="Canva Sans"/>
              </a:rPr>
              <a:t> is employed, terminating training when the </a:t>
            </a:r>
            <a:r>
              <a:rPr lang="en-US" b="true" sz="1984">
                <a:solidFill>
                  <a:srgbClr val="866255"/>
                </a:solidFill>
                <a:latin typeface="Canva Sans Bold"/>
                <a:ea typeface="Canva Sans Bold"/>
                <a:cs typeface="Canva Sans Bold"/>
                <a:sym typeface="Canva Sans Bold"/>
              </a:rPr>
              <a:t>loss function plateaus</a:t>
            </a:r>
            <a:r>
              <a:rPr lang="en-US" sz="1984">
                <a:solidFill>
                  <a:srgbClr val="866255"/>
                </a:solidFill>
                <a:latin typeface="Canva Sans"/>
                <a:ea typeface="Canva Sans"/>
                <a:cs typeface="Canva Sans"/>
                <a:sym typeface="Canva Sans"/>
              </a:rPr>
              <a:t>, or after a </a:t>
            </a:r>
            <a:r>
              <a:rPr lang="en-US" b="true" sz="1984">
                <a:solidFill>
                  <a:srgbClr val="866255"/>
                </a:solidFill>
                <a:latin typeface="Canva Sans Bold"/>
                <a:ea typeface="Canva Sans Bold"/>
                <a:cs typeface="Canva Sans Bold"/>
                <a:sym typeface="Canva Sans Bold"/>
              </a:rPr>
              <a:t>maximum of 10,000 epochs</a:t>
            </a:r>
            <a:r>
              <a:rPr lang="en-US" sz="1984">
                <a:solidFill>
                  <a:srgbClr val="866255"/>
                </a:solidFill>
                <a:latin typeface="Canva Sans"/>
                <a:ea typeface="Canva Sans"/>
                <a:cs typeface="Canva Sans"/>
                <a:sym typeface="Canva Sans"/>
              </a:rPr>
              <a:t>: </a:t>
            </a:r>
            <a:r>
              <a:rPr lang="en-US" sz="1984">
                <a:solidFill>
                  <a:srgbClr val="000000"/>
                </a:solidFill>
                <a:latin typeface="Canva Sans"/>
                <a:ea typeface="Canva Sans"/>
                <a:cs typeface="Canva Sans"/>
                <a:sym typeface="Canva Sans"/>
              </a:rPr>
              <a:t>Early stopping avoids stagnation while allowing deep convergence up to 10k epochs.</a:t>
            </a:r>
          </a:p>
          <a:p>
            <a:pPr algn="l">
              <a:lnSpc>
                <a:spcPts val="2778"/>
              </a:lnSpc>
            </a:pPr>
          </a:p>
          <a:p>
            <a:pPr algn="l" marL="428556" indent="-214278" lvl="1">
              <a:lnSpc>
                <a:spcPts val="2778"/>
              </a:lnSpc>
              <a:buFont typeface="Arial"/>
              <a:buChar char="•"/>
            </a:pPr>
            <a:r>
              <a:rPr lang="en-US" sz="1984">
                <a:solidFill>
                  <a:srgbClr val="866255"/>
                </a:solidFill>
                <a:latin typeface="Canva Sans"/>
                <a:ea typeface="Canva Sans"/>
                <a:cs typeface="Canva Sans"/>
                <a:sym typeface="Canva Sans"/>
              </a:rPr>
              <a:t> </a:t>
            </a:r>
            <a:r>
              <a:rPr lang="en-US" b="true" sz="1984">
                <a:solidFill>
                  <a:srgbClr val="866255"/>
                </a:solidFill>
                <a:latin typeface="Canva Sans Bold"/>
                <a:ea typeface="Canva Sans Bold"/>
                <a:cs typeface="Canva Sans Bold"/>
                <a:sym typeface="Canva Sans Bold"/>
              </a:rPr>
              <a:t>Binary cross-entropy</a:t>
            </a:r>
            <a:r>
              <a:rPr lang="en-US" sz="1984">
                <a:solidFill>
                  <a:srgbClr val="866255"/>
                </a:solidFill>
                <a:latin typeface="Canva Sans"/>
                <a:ea typeface="Canva Sans"/>
                <a:cs typeface="Canva Sans"/>
                <a:sym typeface="Canva Sans"/>
              </a:rPr>
              <a:t> is used as the loss function for all experiments &amp; Performance is evaluated using </a:t>
            </a:r>
            <a:r>
              <a:rPr lang="en-US" b="true" sz="1984">
                <a:solidFill>
                  <a:srgbClr val="866255"/>
                </a:solidFill>
                <a:latin typeface="Canva Sans Bold"/>
                <a:ea typeface="Canva Sans Bold"/>
                <a:cs typeface="Canva Sans Bold"/>
                <a:sym typeface="Canva Sans Bold"/>
              </a:rPr>
              <a:t>Accuracy and AUC metrics</a:t>
            </a:r>
            <a:r>
              <a:rPr lang="en-US" sz="1984">
                <a:solidFill>
                  <a:srgbClr val="866255"/>
                </a:solidFill>
                <a:latin typeface="Canva Sans"/>
                <a:ea typeface="Canva Sans"/>
                <a:cs typeface="Canva Sans"/>
                <a:sym typeface="Canva Sans"/>
              </a:rPr>
              <a:t>: </a:t>
            </a:r>
            <a:r>
              <a:rPr lang="en-US" sz="1984">
                <a:solidFill>
                  <a:srgbClr val="000000"/>
                </a:solidFill>
                <a:latin typeface="Canva Sans"/>
                <a:ea typeface="Canva Sans"/>
                <a:cs typeface="Canva Sans"/>
                <a:sym typeface="Canva Sans"/>
              </a:rPr>
              <a:t>BCE loss with Accuracy &amp; AUC balances training stability and robust evaluation.</a:t>
            </a:r>
          </a:p>
          <a:p>
            <a:pPr algn="l">
              <a:lnSpc>
                <a:spcPts val="2778"/>
              </a:lnSpc>
            </a:pPr>
          </a:p>
          <a:p>
            <a:pPr algn="l" marL="428556" indent="-214278" lvl="1">
              <a:lnSpc>
                <a:spcPts val="2778"/>
              </a:lnSpc>
              <a:buFont typeface="Arial"/>
              <a:buChar char="•"/>
            </a:pPr>
            <a:r>
              <a:rPr lang="en-US" sz="1984">
                <a:solidFill>
                  <a:srgbClr val="866255"/>
                </a:solidFill>
                <a:latin typeface="Canva Sans"/>
                <a:ea typeface="Canva Sans"/>
                <a:cs typeface="Canva Sans"/>
                <a:sym typeface="Canva Sans"/>
              </a:rPr>
              <a:t>The</a:t>
            </a:r>
            <a:r>
              <a:rPr lang="en-US" b="true" sz="1984">
                <a:solidFill>
                  <a:srgbClr val="866255"/>
                </a:solidFill>
                <a:latin typeface="Canva Sans Bold"/>
                <a:ea typeface="Canva Sans Bold"/>
                <a:cs typeface="Canva Sans Bold"/>
                <a:sym typeface="Canva Sans Bold"/>
              </a:rPr>
              <a:t> HSF patch size</a:t>
            </a:r>
            <a:r>
              <a:rPr lang="en-US" sz="1984">
                <a:solidFill>
                  <a:srgbClr val="866255"/>
                </a:solidFill>
                <a:latin typeface="Canva Sans"/>
                <a:ea typeface="Canva Sans"/>
                <a:cs typeface="Canva Sans"/>
                <a:sym typeface="Canva Sans"/>
              </a:rPr>
              <a:t> is set by default to </a:t>
            </a:r>
            <a:r>
              <a:rPr lang="en-US" b="true" sz="1984">
                <a:solidFill>
                  <a:srgbClr val="866255"/>
                </a:solidFill>
                <a:latin typeface="Canva Sans Bold"/>
                <a:ea typeface="Canva Sans Bold"/>
                <a:cs typeface="Canva Sans Bold"/>
                <a:sym typeface="Canva Sans Bold"/>
              </a:rPr>
              <a:t>4×4 pixels for input images with a resolution of 32 × 32 pixel</a:t>
            </a:r>
            <a:r>
              <a:rPr lang="en-US" sz="1984">
                <a:solidFill>
                  <a:srgbClr val="866255"/>
                </a:solidFill>
                <a:latin typeface="Canva Sans"/>
                <a:ea typeface="Canva Sans"/>
                <a:cs typeface="Canva Sans"/>
                <a:sym typeface="Canva Sans"/>
              </a:rPr>
              <a:t>s or lower, and </a:t>
            </a:r>
            <a:r>
              <a:rPr lang="en-US" b="true" sz="1984">
                <a:solidFill>
                  <a:srgbClr val="866255"/>
                </a:solidFill>
                <a:latin typeface="Canva Sans Bold"/>
                <a:ea typeface="Canva Sans Bold"/>
                <a:cs typeface="Canva Sans Bold"/>
                <a:sym typeface="Canva Sans Bold"/>
              </a:rPr>
              <a:t>32 × 32 pixels for higher-resolution inputs </a:t>
            </a:r>
            <a:r>
              <a:rPr lang="en-US" sz="1984">
                <a:solidFill>
                  <a:srgbClr val="866255"/>
                </a:solidFill>
                <a:latin typeface="Canva Sans"/>
                <a:ea typeface="Canva Sans"/>
                <a:cs typeface="Canva Sans"/>
                <a:sym typeface="Canva Sans"/>
              </a:rPr>
              <a:t>: </a:t>
            </a:r>
            <a:r>
              <a:rPr lang="en-US" sz="1984">
                <a:solidFill>
                  <a:srgbClr val="000000"/>
                </a:solidFill>
                <a:latin typeface="Canva Sans"/>
                <a:ea typeface="Canva Sans"/>
                <a:cs typeface="Canva Sans"/>
                <a:sym typeface="Canva Sans"/>
              </a:rPr>
              <a:t>Patch size scales with resolution: 4×4 captures fine HSF details, 32×32 captures global structure</a:t>
            </a:r>
          </a:p>
          <a:p>
            <a:pPr algn="l">
              <a:lnSpc>
                <a:spcPts val="2778"/>
              </a:lnSpc>
            </a:pPr>
          </a:p>
          <a:p>
            <a:pPr algn="l" marL="428556" indent="-214278" lvl="1">
              <a:lnSpc>
                <a:spcPts val="2778"/>
              </a:lnSpc>
              <a:buFont typeface="Arial"/>
              <a:buChar char="•"/>
            </a:pPr>
            <a:r>
              <a:rPr lang="en-US" sz="1984">
                <a:solidFill>
                  <a:srgbClr val="866255"/>
                </a:solidFill>
                <a:latin typeface="Canva Sans"/>
                <a:ea typeface="Canva Sans"/>
                <a:cs typeface="Canva Sans"/>
                <a:sym typeface="Canva Sans"/>
              </a:rPr>
              <a:t> To assess the robustness of BIQC to noise, we introduce noise into the quantum simulator by applying </a:t>
            </a:r>
            <a:r>
              <a:rPr lang="en-US" b="true" sz="1984">
                <a:solidFill>
                  <a:srgbClr val="866255"/>
                </a:solidFill>
                <a:latin typeface="Canva Sans Bold"/>
                <a:ea typeface="Canva Sans Bold"/>
                <a:cs typeface="Canva Sans Bold"/>
                <a:sym typeface="Canva Sans Bold"/>
              </a:rPr>
              <a:t>Rx(θ) to each qubit, where θ ∼ U(0, noise) </a:t>
            </a:r>
            <a:r>
              <a:rPr lang="en-US" sz="1984">
                <a:solidFill>
                  <a:srgbClr val="866255"/>
                </a:solidFill>
                <a:latin typeface="Canva Sans"/>
                <a:ea typeface="Canva Sans"/>
                <a:cs typeface="Canva Sans"/>
                <a:sym typeface="Canva Sans"/>
              </a:rPr>
              <a:t>: </a:t>
            </a:r>
            <a:r>
              <a:rPr lang="en-US" sz="1984">
                <a:solidFill>
                  <a:srgbClr val="000000"/>
                </a:solidFill>
                <a:latin typeface="Canva Sans"/>
                <a:ea typeface="Canva Sans"/>
                <a:cs typeface="Canva Sans"/>
                <a:sym typeface="Canva Sans"/>
              </a:rPr>
              <a:t>Uniform Rx noise injection mimics quantum decoherence, enhancing hardware-robustness.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EEE7"/>
        </a:solidFill>
      </p:bgPr>
    </p:bg>
    <p:spTree>
      <p:nvGrpSpPr>
        <p:cNvPr id="1" name=""/>
        <p:cNvGrpSpPr/>
        <p:nvPr/>
      </p:nvGrpSpPr>
      <p:grpSpPr>
        <a:xfrm>
          <a:off x="0" y="0"/>
          <a:ext cx="0" cy="0"/>
          <a:chOff x="0" y="0"/>
          <a:chExt cx="0" cy="0"/>
        </a:xfrm>
      </p:grpSpPr>
      <p:sp>
        <p:nvSpPr>
          <p:cNvPr name="Freeform 2" id="2"/>
          <p:cNvSpPr/>
          <p:nvPr/>
        </p:nvSpPr>
        <p:spPr>
          <a:xfrm flipH="false" flipV="false" rot="0">
            <a:off x="4194192" y="5414772"/>
            <a:ext cx="9216021" cy="4412170"/>
          </a:xfrm>
          <a:custGeom>
            <a:avLst/>
            <a:gdLst/>
            <a:ahLst/>
            <a:cxnLst/>
            <a:rect r="r" b="b" t="t" l="l"/>
            <a:pathLst>
              <a:path h="4412170" w="9216021">
                <a:moveTo>
                  <a:pt x="0" y="0"/>
                </a:moveTo>
                <a:lnTo>
                  <a:pt x="9216021" y="0"/>
                </a:lnTo>
                <a:lnTo>
                  <a:pt x="9216021" y="4412170"/>
                </a:lnTo>
                <a:lnTo>
                  <a:pt x="0" y="4412170"/>
                </a:lnTo>
                <a:lnTo>
                  <a:pt x="0" y="0"/>
                </a:lnTo>
                <a:close/>
              </a:path>
            </a:pathLst>
          </a:custGeom>
          <a:blipFill>
            <a:blip r:embed="rId2"/>
            <a:stretch>
              <a:fillRect l="0" t="0" r="0" b="0"/>
            </a:stretch>
          </a:blipFill>
        </p:spPr>
      </p:sp>
      <p:sp>
        <p:nvSpPr>
          <p:cNvPr name="TextBox 3" id="3"/>
          <p:cNvSpPr txBox="true"/>
          <p:nvPr/>
        </p:nvSpPr>
        <p:spPr>
          <a:xfrm rot="0">
            <a:off x="5498020" y="942975"/>
            <a:ext cx="6608366" cy="811530"/>
          </a:xfrm>
          <a:prstGeom prst="rect">
            <a:avLst/>
          </a:prstGeom>
        </p:spPr>
        <p:txBody>
          <a:bodyPr anchor="t" rtlCol="false" tIns="0" lIns="0" bIns="0" rIns="0">
            <a:spAutoFit/>
          </a:bodyPr>
          <a:lstStyle/>
          <a:p>
            <a:pPr algn="ctr">
              <a:lnSpc>
                <a:spcPts val="6719"/>
              </a:lnSpc>
            </a:pPr>
            <a:r>
              <a:rPr lang="en-US" sz="4800" b="true">
                <a:solidFill>
                  <a:srgbClr val="866255"/>
                </a:solidFill>
                <a:latin typeface="Canva Sans Bold"/>
                <a:ea typeface="Canva Sans Bold"/>
                <a:cs typeface="Canva Sans Bold"/>
                <a:sym typeface="Canva Sans Bold"/>
              </a:rPr>
              <a:t>The classical pathway</a:t>
            </a:r>
            <a:r>
              <a:rPr lang="en-US" sz="4800">
                <a:solidFill>
                  <a:srgbClr val="000000"/>
                </a:solidFill>
                <a:latin typeface="Canva Sans"/>
                <a:ea typeface="Canva Sans"/>
                <a:cs typeface="Canva Sans"/>
                <a:sym typeface="Canva Sans"/>
              </a:rPr>
              <a:t> </a:t>
            </a:r>
          </a:p>
        </p:txBody>
      </p:sp>
      <p:sp>
        <p:nvSpPr>
          <p:cNvPr name="TextBox 4" id="4"/>
          <p:cNvSpPr txBox="true"/>
          <p:nvPr/>
        </p:nvSpPr>
        <p:spPr>
          <a:xfrm rot="0">
            <a:off x="0" y="2086737"/>
            <a:ext cx="18288000" cy="2956560"/>
          </a:xfrm>
          <a:prstGeom prst="rect">
            <a:avLst/>
          </a:prstGeom>
        </p:spPr>
        <p:txBody>
          <a:bodyPr anchor="t" rtlCol="false" tIns="0" lIns="0" bIns="0" rIns="0">
            <a:spAutoFit/>
          </a:bodyPr>
          <a:lstStyle/>
          <a:p>
            <a:pPr algn="l">
              <a:lnSpc>
                <a:spcPts val="2940"/>
              </a:lnSpc>
            </a:pPr>
            <a:r>
              <a:rPr lang="en-US" sz="2100">
                <a:solidFill>
                  <a:srgbClr val="866255"/>
                </a:solidFill>
                <a:latin typeface="Canva Sans"/>
                <a:ea typeface="Canva Sans"/>
                <a:cs typeface="Canva Sans"/>
                <a:sym typeface="Canva Sans"/>
              </a:rPr>
              <a:t>Mimicking the</a:t>
            </a:r>
            <a:r>
              <a:rPr lang="en-US" sz="2100">
                <a:solidFill>
                  <a:srgbClr val="866255"/>
                </a:solidFill>
                <a:latin typeface="Canva Sans"/>
                <a:ea typeface="Canva Sans"/>
                <a:cs typeface="Canva Sans"/>
                <a:sym typeface="Canva Sans"/>
              </a:rPr>
              <a:t> EVC’s role in efficient initial processing to capture coarse structure, the classical pathway utilizes a </a:t>
            </a:r>
            <a:r>
              <a:rPr lang="en-US" sz="2100" b="true">
                <a:solidFill>
                  <a:srgbClr val="866255"/>
                </a:solidFill>
                <a:latin typeface="Canva Sans Bold"/>
                <a:ea typeface="Canva Sans Bold"/>
                <a:cs typeface="Canva Sans Bold"/>
                <a:sym typeface="Canva Sans Bold"/>
              </a:rPr>
              <a:t>CNN to extract global</a:t>
            </a:r>
            <a:r>
              <a:rPr lang="en-US" sz="2100">
                <a:solidFill>
                  <a:srgbClr val="866255"/>
                </a:solidFill>
                <a:latin typeface="Canva Sans"/>
                <a:ea typeface="Canva Sans"/>
                <a:cs typeface="Canva Sans"/>
                <a:sym typeface="Canva Sans"/>
              </a:rPr>
              <a:t>, LSF features. </a:t>
            </a:r>
          </a:p>
          <a:p>
            <a:pPr algn="l">
              <a:lnSpc>
                <a:spcPts val="2940"/>
              </a:lnSpc>
            </a:pPr>
            <a:r>
              <a:rPr lang="en-US" sz="2100">
                <a:solidFill>
                  <a:srgbClr val="866255"/>
                </a:solidFill>
                <a:latin typeface="Canva Sans"/>
                <a:ea typeface="Canva Sans"/>
                <a:cs typeface="Canva Sans"/>
                <a:sym typeface="Canva Sans"/>
              </a:rPr>
              <a:t>This CNN comprises :</a:t>
            </a:r>
          </a:p>
          <a:p>
            <a:pPr algn="l" marL="453390" indent="-226695" lvl="1">
              <a:lnSpc>
                <a:spcPts val="2940"/>
              </a:lnSpc>
              <a:buFont typeface="Arial"/>
              <a:buChar char="•"/>
            </a:pPr>
            <a:r>
              <a:rPr lang="en-US" sz="2100">
                <a:solidFill>
                  <a:srgbClr val="000000"/>
                </a:solidFill>
                <a:latin typeface="Canva Sans"/>
                <a:ea typeface="Canva Sans"/>
                <a:cs typeface="Canva Sans"/>
                <a:sym typeface="Canva Sans"/>
              </a:rPr>
              <a:t>T</a:t>
            </a:r>
            <a:r>
              <a:rPr lang="en-US" sz="2100">
                <a:solidFill>
                  <a:srgbClr val="000000"/>
                </a:solidFill>
                <a:latin typeface="Canva Sans"/>
                <a:ea typeface="Canva Sans"/>
                <a:cs typeface="Canva Sans"/>
                <a:sym typeface="Canva Sans"/>
              </a:rPr>
              <a:t>wo convolutional layers, followed by relu activation function  </a:t>
            </a:r>
          </a:p>
          <a:p>
            <a:pPr algn="l" marL="453390" indent="-226695" lvl="1">
              <a:lnSpc>
                <a:spcPts val="2940"/>
              </a:lnSpc>
              <a:buFont typeface="Arial"/>
              <a:buChar char="•"/>
            </a:pPr>
            <a:r>
              <a:rPr lang="en-US" sz="2100">
                <a:solidFill>
                  <a:srgbClr val="000000"/>
                </a:solidFill>
                <a:latin typeface="Canva Sans"/>
                <a:ea typeface="Canva Sans"/>
                <a:cs typeface="Canva Sans"/>
                <a:sym typeface="Canva Sans"/>
              </a:rPr>
              <a:t> Max-pooling operations</a:t>
            </a:r>
            <a:r>
              <a:rPr lang="en-US" sz="2100">
                <a:solidFill>
                  <a:srgbClr val="866255"/>
                </a:solidFill>
                <a:latin typeface="Canva Sans"/>
                <a:ea typeface="Canva Sans"/>
                <a:cs typeface="Canva Sans"/>
                <a:sym typeface="Canva Sans"/>
              </a:rPr>
              <a:t> </a:t>
            </a:r>
          </a:p>
          <a:p>
            <a:pPr algn="l">
              <a:lnSpc>
                <a:spcPts val="2940"/>
              </a:lnSpc>
            </a:pPr>
            <a:r>
              <a:rPr lang="en-US" sz="2100">
                <a:solidFill>
                  <a:srgbClr val="866255"/>
                </a:solidFill>
                <a:latin typeface="Canva Sans"/>
                <a:ea typeface="Canva Sans"/>
                <a:cs typeface="Canva Sans"/>
                <a:sym typeface="Canva Sans"/>
              </a:rPr>
              <a:t>Rapidly processing input images X to generate LSF features Z(LSF). </a:t>
            </a:r>
          </a:p>
          <a:p>
            <a:pPr algn="l">
              <a:lnSpc>
                <a:spcPts val="2940"/>
              </a:lnSpc>
            </a:pPr>
            <a:r>
              <a:rPr lang="en-US" sz="2100">
                <a:solidFill>
                  <a:srgbClr val="866255"/>
                </a:solidFill>
                <a:latin typeface="Canva Sans"/>
                <a:ea typeface="Canva Sans"/>
                <a:cs typeface="Canva Sans"/>
                <a:sym typeface="Canva Sans"/>
              </a:rPr>
              <a:t>Analogous to the OFC’s guidance of attention, an attention map A(HS)F is then derived from Z(LSF) via a </a:t>
            </a:r>
            <a:r>
              <a:rPr lang="en-US" sz="2100">
                <a:solidFill>
                  <a:srgbClr val="000000"/>
                </a:solidFill>
                <a:latin typeface="Canva Sans"/>
                <a:ea typeface="Canva Sans"/>
                <a:cs typeface="Canva Sans"/>
                <a:sym typeface="Canva Sans"/>
              </a:rPr>
              <a:t>1×1 convolutional layer</a:t>
            </a:r>
            <a:r>
              <a:rPr lang="en-US" sz="2100">
                <a:solidFill>
                  <a:srgbClr val="866255"/>
                </a:solidFill>
                <a:latin typeface="Canva Sans"/>
                <a:ea typeface="Canva Sans"/>
                <a:cs typeface="Canva Sans"/>
                <a:sym typeface="Canva Sans"/>
              </a:rPr>
              <a:t> to highlight potential HSF regions P(Human HSF) for targeted quantum processing.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EEE7"/>
        </a:solidFill>
      </p:bgPr>
    </p:bg>
    <p:spTree>
      <p:nvGrpSpPr>
        <p:cNvPr id="1" name=""/>
        <p:cNvGrpSpPr/>
        <p:nvPr/>
      </p:nvGrpSpPr>
      <p:grpSpPr>
        <a:xfrm>
          <a:off x="0" y="0"/>
          <a:ext cx="0" cy="0"/>
          <a:chOff x="0" y="0"/>
          <a:chExt cx="0" cy="0"/>
        </a:xfrm>
      </p:grpSpPr>
      <p:sp>
        <p:nvSpPr>
          <p:cNvPr name="TextBox 2" id="2"/>
          <p:cNvSpPr txBox="true"/>
          <p:nvPr/>
        </p:nvSpPr>
        <p:spPr>
          <a:xfrm rot="0">
            <a:off x="430003" y="2544166"/>
            <a:ext cx="15972598" cy="7414260"/>
          </a:xfrm>
          <a:prstGeom prst="rect">
            <a:avLst/>
          </a:prstGeom>
        </p:spPr>
        <p:txBody>
          <a:bodyPr anchor="t" rtlCol="false" tIns="0" lIns="0" bIns="0" rIns="0">
            <a:spAutoFit/>
          </a:bodyPr>
          <a:lstStyle/>
          <a:p>
            <a:pPr algn="l">
              <a:lnSpc>
                <a:spcPts val="2940"/>
              </a:lnSpc>
            </a:pPr>
          </a:p>
          <a:p>
            <a:pPr algn="l" marL="453390" indent="-226695" lvl="1">
              <a:lnSpc>
                <a:spcPts val="2940"/>
              </a:lnSpc>
              <a:buAutoNum type="arabicPeriod" startAt="1"/>
            </a:pPr>
            <a:r>
              <a:rPr lang="en-US" sz="2100">
                <a:solidFill>
                  <a:srgbClr val="866255"/>
                </a:solidFill>
                <a:latin typeface="Canva Sans"/>
                <a:ea typeface="Canva Sans"/>
                <a:cs typeface="Canva Sans"/>
                <a:sym typeface="Canva Sans"/>
              </a:rPr>
              <a:t>Divide the image</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Split the image</a:t>
            </a:r>
            <a:r>
              <a:rPr lang="en-US" sz="2100">
                <a:solidFill>
                  <a:srgbClr val="866255"/>
                </a:solidFill>
                <a:latin typeface="Canva Sans"/>
                <a:ea typeface="Canva Sans"/>
                <a:cs typeface="Canva Sans"/>
                <a:sym typeface="Canva Sans"/>
              </a:rPr>
              <a:t> into small patches (like 8×8 squares).</a:t>
            </a:r>
          </a:p>
          <a:p>
            <a:pPr algn="l" marL="453390" indent="-226695" lvl="1">
              <a:lnSpc>
                <a:spcPts val="2940"/>
              </a:lnSpc>
              <a:buAutoNum type="arabicPeriod" startAt="1"/>
            </a:pPr>
            <a:r>
              <a:rPr lang="en-US" sz="2100">
                <a:solidFill>
                  <a:srgbClr val="866255"/>
                </a:solidFill>
                <a:latin typeface="Canva Sans"/>
                <a:ea typeface="Canva Sans"/>
                <a:cs typeface="Canva Sans"/>
                <a:sym typeface="Canva Sans"/>
              </a:rPr>
              <a:t>Check each patch</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Ask: is this patch mostly smooth (background) or full of edges/details (like strokes of a digit)?</a:t>
            </a:r>
          </a:p>
          <a:p>
            <a:pPr algn="l" marL="453390" indent="-226695" lvl="1">
              <a:lnSpc>
                <a:spcPts val="2940"/>
              </a:lnSpc>
              <a:buAutoNum type="arabicPeriod" startAt="1"/>
            </a:pPr>
            <a:r>
              <a:rPr lang="en-US" sz="2100">
                <a:solidFill>
                  <a:srgbClr val="866255"/>
                </a:solidFill>
                <a:latin typeface="Canva Sans"/>
                <a:ea typeface="Canva Sans"/>
                <a:cs typeface="Canva Sans"/>
                <a:sym typeface="Canva Sans"/>
              </a:rPr>
              <a:t>Transform patch with 2D-DFT</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Convert the patch from pixel space into frequency space.</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Low frequencies = smooth areas.</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High frequencies = edges and fine details.</a:t>
            </a:r>
          </a:p>
          <a:p>
            <a:pPr algn="l" marL="453390" indent="-226695" lvl="1">
              <a:lnSpc>
                <a:spcPts val="2940"/>
              </a:lnSpc>
              <a:buAutoNum type="arabicPeriod" startAt="1"/>
            </a:pPr>
            <a:r>
              <a:rPr lang="en-US" sz="2100">
                <a:solidFill>
                  <a:srgbClr val="866255"/>
                </a:solidFill>
                <a:latin typeface="Canva Sans"/>
                <a:ea typeface="Canva Sans"/>
                <a:cs typeface="Canva Sans"/>
                <a:sym typeface="Canva Sans"/>
              </a:rPr>
              <a:t>Measure energy</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Compute the energy (strength) of low-frequency vs. high-frequency parts.</a:t>
            </a:r>
          </a:p>
          <a:p>
            <a:pPr algn="l" marL="453390" indent="-226695" lvl="1">
              <a:lnSpc>
                <a:spcPts val="2940"/>
              </a:lnSpc>
              <a:buAutoNum type="arabicPeriod" startAt="1"/>
            </a:pPr>
            <a:r>
              <a:rPr lang="en-US" sz="2100">
                <a:solidFill>
                  <a:srgbClr val="866255"/>
                </a:solidFill>
                <a:latin typeface="Canva Sans"/>
                <a:ea typeface="Canva Sans"/>
                <a:cs typeface="Canva Sans"/>
                <a:sym typeface="Canva Sans"/>
              </a:rPr>
              <a:t>Compute r-metric</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r=High-frequency energyLow-frequency energyr = \frac{\text{High-frequency energy}}{\text{Low-frequency energy}}r=Low-frequency energyHigh-frequency energy​If rrr is large → patch has strong details.</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If rrr is small → patch is smooth/flat.</a:t>
            </a:r>
          </a:p>
          <a:p>
            <a:pPr algn="l" marL="453390" indent="-226695" lvl="1">
              <a:lnSpc>
                <a:spcPts val="2940"/>
              </a:lnSpc>
              <a:buAutoNum type="arabicPeriod" startAt="1"/>
            </a:pPr>
            <a:r>
              <a:rPr lang="en-US" sz="2100">
                <a:solidFill>
                  <a:srgbClr val="866255"/>
                </a:solidFill>
                <a:latin typeface="Canva Sans"/>
                <a:ea typeface="Canva Sans"/>
                <a:cs typeface="Canva Sans"/>
                <a:sym typeface="Canva Sans"/>
              </a:rPr>
              <a:t>Choose the best patch</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Rank all patches by their r-metric.</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Select the one with the highest rrr.</a:t>
            </a:r>
          </a:p>
          <a:p>
            <a:pPr algn="l" marL="906780" indent="-302260" lvl="2">
              <a:lnSpc>
                <a:spcPts val="2940"/>
              </a:lnSpc>
              <a:buFont typeface="Arial"/>
              <a:buChar char="⚬"/>
            </a:pPr>
            <a:r>
              <a:rPr lang="en-US" sz="2100">
                <a:solidFill>
                  <a:srgbClr val="866255"/>
                </a:solidFill>
                <a:latin typeface="Canva Sans"/>
                <a:ea typeface="Canva Sans"/>
                <a:cs typeface="Canva Sans"/>
                <a:sym typeface="Canva Sans"/>
              </a:rPr>
              <a:t>This patch (rich in details) is sent into the quantum circuit.</a:t>
            </a:r>
          </a:p>
          <a:p>
            <a:pPr algn="l">
              <a:lnSpc>
                <a:spcPts val="2940"/>
              </a:lnSpc>
            </a:pPr>
          </a:p>
        </p:txBody>
      </p:sp>
      <p:sp>
        <p:nvSpPr>
          <p:cNvPr name="Freeform 3" id="3"/>
          <p:cNvSpPr/>
          <p:nvPr/>
        </p:nvSpPr>
        <p:spPr>
          <a:xfrm flipH="false" flipV="false" rot="0">
            <a:off x="9144000" y="8009747"/>
            <a:ext cx="9175766" cy="1777805"/>
          </a:xfrm>
          <a:custGeom>
            <a:avLst/>
            <a:gdLst/>
            <a:ahLst/>
            <a:cxnLst/>
            <a:rect r="r" b="b" t="t" l="l"/>
            <a:pathLst>
              <a:path h="1777805" w="9175766">
                <a:moveTo>
                  <a:pt x="0" y="0"/>
                </a:moveTo>
                <a:lnTo>
                  <a:pt x="9175766" y="0"/>
                </a:lnTo>
                <a:lnTo>
                  <a:pt x="9175766" y="1777805"/>
                </a:lnTo>
                <a:lnTo>
                  <a:pt x="0" y="1777805"/>
                </a:lnTo>
                <a:lnTo>
                  <a:pt x="0" y="0"/>
                </a:lnTo>
                <a:close/>
              </a:path>
            </a:pathLst>
          </a:custGeom>
          <a:blipFill>
            <a:blip r:embed="rId2"/>
            <a:stretch>
              <a:fillRect l="0" t="0" r="0" b="0"/>
            </a:stretch>
          </a:blipFill>
        </p:spPr>
      </p:sp>
      <p:sp>
        <p:nvSpPr>
          <p:cNvPr name="TextBox 4" id="4"/>
          <p:cNvSpPr txBox="true"/>
          <p:nvPr/>
        </p:nvSpPr>
        <p:spPr>
          <a:xfrm rot="0">
            <a:off x="6531792" y="448310"/>
            <a:ext cx="4562872" cy="613410"/>
          </a:xfrm>
          <a:prstGeom prst="rect">
            <a:avLst/>
          </a:prstGeom>
        </p:spPr>
        <p:txBody>
          <a:bodyPr anchor="t" rtlCol="false" tIns="0" lIns="0" bIns="0" rIns="0">
            <a:spAutoFit/>
          </a:bodyPr>
          <a:lstStyle/>
          <a:p>
            <a:pPr algn="ctr">
              <a:lnSpc>
                <a:spcPts val="5040"/>
              </a:lnSpc>
            </a:pPr>
            <a:r>
              <a:rPr lang="en-US" sz="3600" b="true">
                <a:solidFill>
                  <a:srgbClr val="866255"/>
                </a:solidFill>
                <a:latin typeface="Canva Sans Bold"/>
                <a:ea typeface="Canva Sans Bold"/>
                <a:cs typeface="Canva Sans Bold"/>
                <a:sym typeface="Canva Sans Bold"/>
              </a:rPr>
              <a:t>Quantum pathway’s </a:t>
            </a:r>
          </a:p>
        </p:txBody>
      </p:sp>
      <p:sp>
        <p:nvSpPr>
          <p:cNvPr name="TextBox 5" id="5"/>
          <p:cNvSpPr txBox="true"/>
          <p:nvPr/>
        </p:nvSpPr>
        <p:spPr>
          <a:xfrm rot="0">
            <a:off x="1223855" y="1354177"/>
            <a:ext cx="15840290" cy="727710"/>
          </a:xfrm>
          <a:prstGeom prst="rect">
            <a:avLst/>
          </a:prstGeom>
        </p:spPr>
        <p:txBody>
          <a:bodyPr anchor="t" rtlCol="false" tIns="0" lIns="0" bIns="0" rIns="0">
            <a:spAutoFit/>
          </a:bodyPr>
          <a:lstStyle/>
          <a:p>
            <a:pPr algn="ctr">
              <a:lnSpc>
                <a:spcPts val="2940"/>
              </a:lnSpc>
            </a:pPr>
            <a:r>
              <a:rPr lang="en-US" sz="2100">
                <a:solidFill>
                  <a:srgbClr val="866255"/>
                </a:solidFill>
                <a:latin typeface="Canva Sans"/>
                <a:ea typeface="Canva Sans"/>
                <a:cs typeface="Canva Sans"/>
                <a:sym typeface="Canva Sans"/>
              </a:rPr>
              <a:t>HSF regions are i</a:t>
            </a:r>
            <a:r>
              <a:rPr lang="en-US" sz="2100">
                <a:solidFill>
                  <a:srgbClr val="866255"/>
                </a:solidFill>
                <a:latin typeface="Canva Sans"/>
                <a:ea typeface="Canva Sans"/>
                <a:cs typeface="Canva Sans"/>
                <a:sym typeface="Canva Sans"/>
              </a:rPr>
              <a:t>dentified through</a:t>
            </a:r>
            <a:r>
              <a:rPr lang="en-US" b="true" sz="2100">
                <a:solidFill>
                  <a:srgbClr val="866255"/>
                </a:solidFill>
                <a:latin typeface="Canva Sans Bold"/>
                <a:ea typeface="Canva Sans Bold"/>
                <a:cs typeface="Canva Sans Bold"/>
                <a:sym typeface="Canva Sans Bold"/>
              </a:rPr>
              <a:t> two complementary</a:t>
            </a:r>
            <a:r>
              <a:rPr lang="en-US" sz="2100">
                <a:solidFill>
                  <a:srgbClr val="866255"/>
                </a:solidFill>
                <a:latin typeface="Canva Sans"/>
                <a:ea typeface="Canva Sans"/>
                <a:cs typeface="Canva Sans"/>
                <a:sym typeface="Canva Sans"/>
              </a:rPr>
              <a:t> strategies. One approach selects regions via the </a:t>
            </a:r>
            <a:r>
              <a:rPr lang="en-US" b="true" sz="2100">
                <a:solidFill>
                  <a:srgbClr val="866255"/>
                </a:solidFill>
                <a:latin typeface="Canva Sans Bold"/>
                <a:ea typeface="Canva Sans Bold"/>
                <a:cs typeface="Canva Sans Bold"/>
                <a:sym typeface="Canva Sans Bold"/>
              </a:rPr>
              <a:t>attention</a:t>
            </a:r>
            <a:r>
              <a:rPr lang="en-US" sz="2100">
                <a:solidFill>
                  <a:srgbClr val="866255"/>
                </a:solidFill>
                <a:latin typeface="Canva Sans"/>
                <a:ea typeface="Canva Sans"/>
                <a:cs typeface="Canva Sans"/>
                <a:sym typeface="Canva Sans"/>
              </a:rPr>
              <a:t> mechanism, P(Human HSF ). The second, critical for focusing on </a:t>
            </a:r>
            <a:r>
              <a:rPr lang="en-US" b="true" sz="2100">
                <a:solidFill>
                  <a:srgbClr val="866255"/>
                </a:solidFill>
                <a:latin typeface="Canva Sans Bold"/>
                <a:ea typeface="Canva Sans Bold"/>
                <a:cs typeface="Canva Sans Bold"/>
                <a:sym typeface="Canva Sans Bold"/>
              </a:rPr>
              <a:t>intricate details</a:t>
            </a:r>
            <a:r>
              <a:rPr lang="en-US" sz="2100">
                <a:solidFill>
                  <a:srgbClr val="866255"/>
                </a:solidFill>
                <a:latin typeface="Canva Sans"/>
                <a:ea typeface="Canva Sans"/>
                <a:cs typeface="Canva Sans"/>
                <a:sym typeface="Canva Sans"/>
              </a:rPr>
              <a:t>, draws inspiration from the </a:t>
            </a:r>
            <a:r>
              <a:rPr lang="en-US" b="true" sz="2100">
                <a:solidFill>
                  <a:srgbClr val="866255"/>
                </a:solidFill>
                <a:latin typeface="Canva Sans Bold"/>
                <a:ea typeface="Canva Sans Bold"/>
                <a:cs typeface="Canva Sans Bold"/>
                <a:sym typeface="Canva Sans Bold"/>
              </a:rPr>
              <a:t>VVS .</a:t>
            </a:r>
          </a:p>
        </p:txBody>
      </p:sp>
      <p:sp>
        <p:nvSpPr>
          <p:cNvPr name="TextBox 6" id="6"/>
          <p:cNvSpPr txBox="true"/>
          <p:nvPr/>
        </p:nvSpPr>
        <p:spPr>
          <a:xfrm rot="0">
            <a:off x="551286" y="2135340"/>
            <a:ext cx="15972598" cy="580390"/>
          </a:xfrm>
          <a:prstGeom prst="rect">
            <a:avLst/>
          </a:prstGeom>
        </p:spPr>
        <p:txBody>
          <a:bodyPr anchor="t" rtlCol="false" tIns="0" lIns="0" bIns="0" rIns="0">
            <a:spAutoFit/>
          </a:bodyPr>
          <a:lstStyle/>
          <a:p>
            <a:pPr algn="l">
              <a:lnSpc>
                <a:spcPts val="4759"/>
              </a:lnSpc>
            </a:pPr>
            <a:r>
              <a:rPr lang="en-US" sz="3399">
                <a:solidFill>
                  <a:srgbClr val="866255"/>
                </a:solidFill>
                <a:latin typeface="Canva Sans"/>
                <a:ea typeface="Canva Sans"/>
                <a:cs typeface="Canva Sans"/>
                <a:sym typeface="Canva Sans"/>
              </a:rPr>
              <a:t>The VVS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4EEE7"/>
        </a:solidFill>
      </p:bgPr>
    </p:bg>
    <p:spTree>
      <p:nvGrpSpPr>
        <p:cNvPr id="1" name=""/>
        <p:cNvGrpSpPr/>
        <p:nvPr/>
      </p:nvGrpSpPr>
      <p:grpSpPr>
        <a:xfrm>
          <a:off x="0" y="0"/>
          <a:ext cx="0" cy="0"/>
          <a:chOff x="0" y="0"/>
          <a:chExt cx="0" cy="0"/>
        </a:xfrm>
      </p:grpSpPr>
      <p:sp>
        <p:nvSpPr>
          <p:cNvPr name="TextBox 2" id="2"/>
          <p:cNvSpPr txBox="true"/>
          <p:nvPr/>
        </p:nvSpPr>
        <p:spPr>
          <a:xfrm rot="0">
            <a:off x="1588119" y="448310"/>
            <a:ext cx="14450219" cy="613410"/>
          </a:xfrm>
          <a:prstGeom prst="rect">
            <a:avLst/>
          </a:prstGeom>
        </p:spPr>
        <p:txBody>
          <a:bodyPr anchor="t" rtlCol="false" tIns="0" lIns="0" bIns="0" rIns="0">
            <a:spAutoFit/>
          </a:bodyPr>
          <a:lstStyle/>
          <a:p>
            <a:pPr algn="ctr">
              <a:lnSpc>
                <a:spcPts val="5040"/>
              </a:lnSpc>
            </a:pPr>
            <a:r>
              <a:rPr lang="en-US" sz="3600" b="true">
                <a:solidFill>
                  <a:srgbClr val="866255"/>
                </a:solidFill>
                <a:latin typeface="Canva Sans Bold"/>
                <a:ea typeface="Canva Sans Bold"/>
                <a:cs typeface="Canva Sans Bold"/>
                <a:sym typeface="Canva Sans Bold"/>
              </a:rPr>
              <a:t>Follow the quantum pathway’s, </a:t>
            </a:r>
            <a:r>
              <a:rPr lang="en-US" sz="3600" b="true">
                <a:solidFill>
                  <a:srgbClr val="000000"/>
                </a:solidFill>
                <a:latin typeface="Canva Sans Bold"/>
                <a:ea typeface="Canva Sans Bold"/>
                <a:cs typeface="Canva Sans Bold"/>
                <a:sym typeface="Canva Sans Bold"/>
              </a:rPr>
              <a:t>the fusiform re-uploading circuit</a:t>
            </a:r>
            <a:r>
              <a:rPr lang="en-US" sz="3600" b="true">
                <a:solidFill>
                  <a:srgbClr val="866255"/>
                </a:solidFill>
                <a:latin typeface="Canva Sans Bold"/>
                <a:ea typeface="Canva Sans Bold"/>
                <a:cs typeface="Canva Sans Bold"/>
                <a:sym typeface="Canva Sans Bold"/>
              </a:rPr>
              <a:t> </a:t>
            </a:r>
          </a:p>
        </p:txBody>
      </p:sp>
      <p:sp>
        <p:nvSpPr>
          <p:cNvPr name="TextBox 3" id="3"/>
          <p:cNvSpPr txBox="true"/>
          <p:nvPr/>
        </p:nvSpPr>
        <p:spPr>
          <a:xfrm rot="0">
            <a:off x="1195808" y="1473215"/>
            <a:ext cx="15234841" cy="1842135"/>
          </a:xfrm>
          <a:prstGeom prst="rect">
            <a:avLst/>
          </a:prstGeom>
        </p:spPr>
        <p:txBody>
          <a:bodyPr anchor="t" rtlCol="false" tIns="0" lIns="0" bIns="0" rIns="0">
            <a:spAutoFit/>
          </a:bodyPr>
          <a:lstStyle/>
          <a:p>
            <a:pPr algn="l">
              <a:lnSpc>
                <a:spcPts val="2940"/>
              </a:lnSpc>
            </a:pPr>
            <a:r>
              <a:rPr lang="en-US" sz="2100">
                <a:solidFill>
                  <a:srgbClr val="866255"/>
                </a:solidFill>
                <a:latin typeface="Canva Sans"/>
                <a:ea typeface="Canva Sans"/>
                <a:cs typeface="Canva Sans"/>
                <a:sym typeface="Canva Sans"/>
              </a:rPr>
              <a:t>The re-uploading circuit:</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It’s the quantum version of a neural network layer.</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Calle</a:t>
            </a:r>
            <a:r>
              <a:rPr lang="en-US" sz="2100">
                <a:solidFill>
                  <a:srgbClr val="866255"/>
                </a:solidFill>
                <a:latin typeface="Canva Sans"/>
                <a:ea typeface="Canva Sans"/>
                <a:cs typeface="Canva Sans"/>
                <a:sym typeface="Canva Sans"/>
              </a:rPr>
              <a:t>d “reuploading” because the same input data is encoded into the quantum circuit multiple times across layers.</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This allows a small number of qubits to represent richer, more complex functions.</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In BIQC, the chosen HSF patch (from VVS) is flattened into a vector and encoded as rotation angles on qubits.</a:t>
            </a:r>
          </a:p>
        </p:txBody>
      </p:sp>
      <p:sp>
        <p:nvSpPr>
          <p:cNvPr name="TextBox 4" id="4"/>
          <p:cNvSpPr txBox="true"/>
          <p:nvPr/>
        </p:nvSpPr>
        <p:spPr>
          <a:xfrm rot="0">
            <a:off x="1028700" y="5930070"/>
            <a:ext cx="12405101" cy="168275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RZ(θ) → rotates qubit aroun</a:t>
            </a:r>
            <a:r>
              <a:rPr lang="en-US" sz="2100">
                <a:solidFill>
                  <a:srgbClr val="866255"/>
                </a:solidFill>
                <a:latin typeface="Canva Sans"/>
                <a:ea typeface="Canva Sans"/>
                <a:cs typeface="Canva Sans"/>
                <a:sym typeface="Canva Sans"/>
              </a:rPr>
              <a:t>d Z-axis: Used for data encoding: pixel/feature value → angle.</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RX(θ) → rotates qubit around X-axis:   Used for trainable parameters (learnable weights).</a:t>
            </a:r>
          </a:p>
          <a:p>
            <a:pPr algn="l">
              <a:lnSpc>
                <a:spcPts val="2940"/>
              </a:lnSpc>
            </a:pPr>
            <a:r>
              <a:rPr lang="en-US" sz="2100">
                <a:solidFill>
                  <a:srgbClr val="866255"/>
                </a:solidFill>
                <a:latin typeface="Canva Sans"/>
                <a:ea typeface="Canva Sans"/>
                <a:cs typeface="Canva Sans"/>
                <a:sym typeface="Canva Sans"/>
              </a:rPr>
              <a:t>Therefore </a:t>
            </a:r>
            <a:r>
              <a:rPr lang="en-US" sz="2100" b="true">
                <a:solidFill>
                  <a:srgbClr val="866255"/>
                </a:solidFill>
                <a:latin typeface="Canva Sans Bold"/>
                <a:ea typeface="Canva Sans Bold"/>
                <a:cs typeface="Canva Sans Bold"/>
                <a:sym typeface="Canva Sans Bold"/>
              </a:rPr>
              <a:t>Data enters via RZ rotations. &amp; Learnable parameters adjust via RX rotations.</a:t>
            </a:r>
          </a:p>
          <a:p>
            <a:pPr algn="l">
              <a:lnSpc>
                <a:spcPts val="4759"/>
              </a:lnSpc>
            </a:pPr>
          </a:p>
        </p:txBody>
      </p:sp>
      <p:sp>
        <p:nvSpPr>
          <p:cNvPr name="TextBox 5" id="5"/>
          <p:cNvSpPr txBox="true"/>
          <p:nvPr/>
        </p:nvSpPr>
        <p:spPr>
          <a:xfrm rot="0">
            <a:off x="1195808" y="3515905"/>
            <a:ext cx="16953888" cy="2213610"/>
          </a:xfrm>
          <a:prstGeom prst="rect">
            <a:avLst/>
          </a:prstGeom>
        </p:spPr>
        <p:txBody>
          <a:bodyPr anchor="t" rtlCol="false" tIns="0" lIns="0" bIns="0" rIns="0">
            <a:spAutoFit/>
          </a:bodyPr>
          <a:lstStyle/>
          <a:p>
            <a:pPr algn="l">
              <a:lnSpc>
                <a:spcPts val="2940"/>
              </a:lnSpc>
            </a:pPr>
            <a:r>
              <a:rPr lang="en-US" sz="2100">
                <a:solidFill>
                  <a:srgbClr val="866255"/>
                </a:solidFill>
                <a:latin typeface="Canva Sans"/>
                <a:ea typeface="Canva Sans"/>
                <a:cs typeface="Canva Sans"/>
                <a:sym typeface="Canva Sans"/>
              </a:rPr>
              <a:t>Why Reuploading?</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A plain quantum circuit with few qubits is limited.</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Reuploading = reuse input multiple times + learnable params each time → allows universal function approximation (proven in quantum ML theory).</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It’s like adding more “hidden layers” in a neural network.</a:t>
            </a:r>
          </a:p>
          <a:p>
            <a:pPr algn="ctr">
              <a:lnSpc>
                <a:spcPts val="2940"/>
              </a:lnSpc>
            </a:pPr>
          </a:p>
        </p:txBody>
      </p:sp>
      <p:sp>
        <p:nvSpPr>
          <p:cNvPr name="TextBox 6" id="6"/>
          <p:cNvSpPr txBox="true"/>
          <p:nvPr/>
        </p:nvSpPr>
        <p:spPr>
          <a:xfrm rot="0">
            <a:off x="1426740" y="7362407"/>
            <a:ext cx="5804510" cy="2585085"/>
          </a:xfrm>
          <a:prstGeom prst="rect">
            <a:avLst/>
          </a:prstGeom>
        </p:spPr>
        <p:txBody>
          <a:bodyPr anchor="t" rtlCol="false" tIns="0" lIns="0" bIns="0" rIns="0">
            <a:spAutoFit/>
          </a:bodyPr>
          <a:lstStyle/>
          <a:p>
            <a:pPr algn="l">
              <a:lnSpc>
                <a:spcPts val="2940"/>
              </a:lnSpc>
            </a:pPr>
            <a:r>
              <a:rPr lang="en-US" sz="2100">
                <a:solidFill>
                  <a:srgbClr val="866255"/>
                </a:solidFill>
                <a:latin typeface="Canva Sans"/>
                <a:ea typeface="Canva Sans"/>
                <a:cs typeface="Canva Sans"/>
                <a:sym typeface="Canva Sans"/>
              </a:rPr>
              <a:t>Reuploading Layers</a:t>
            </a:r>
          </a:p>
          <a:p>
            <a:pPr algn="l">
              <a:lnSpc>
                <a:spcPts val="2940"/>
              </a:lnSpc>
            </a:pPr>
            <a:r>
              <a:rPr lang="en-US" sz="2100">
                <a:solidFill>
                  <a:srgbClr val="866255"/>
                </a:solidFill>
                <a:latin typeface="Canva Sans"/>
                <a:ea typeface="Canva Sans"/>
                <a:cs typeface="Canva Sans"/>
                <a:sym typeface="Canva Sans"/>
              </a:rPr>
              <a:t>Each layer has:</a:t>
            </a:r>
          </a:p>
          <a:p>
            <a:pPr algn="l" marL="453390" indent="-226695" lvl="1">
              <a:lnSpc>
                <a:spcPts val="2940"/>
              </a:lnSpc>
              <a:buAutoNum type="arabicPeriod" startAt="1"/>
            </a:pPr>
            <a:r>
              <a:rPr lang="en-US" sz="2100">
                <a:solidFill>
                  <a:srgbClr val="866255"/>
                </a:solidFill>
                <a:latin typeface="Canva Sans"/>
                <a:ea typeface="Canva Sans"/>
                <a:cs typeface="Canva Sans"/>
                <a:sym typeface="Canva Sans"/>
              </a:rPr>
              <a:t>Encode data again: apply RZ(data).</a:t>
            </a:r>
          </a:p>
          <a:p>
            <a:pPr algn="l" marL="453390" indent="-226695" lvl="1">
              <a:lnSpc>
                <a:spcPts val="2940"/>
              </a:lnSpc>
              <a:buAutoNum type="arabicPeriod" startAt="1"/>
            </a:pPr>
            <a:r>
              <a:rPr lang="en-US" sz="2100">
                <a:solidFill>
                  <a:srgbClr val="866255"/>
                </a:solidFill>
                <a:latin typeface="Canva Sans"/>
                <a:ea typeface="Canva Sans"/>
                <a:cs typeface="Canva Sans"/>
                <a:sym typeface="Canva Sans"/>
              </a:rPr>
              <a:t>Apply trainable weights: RX(params).</a:t>
            </a:r>
          </a:p>
          <a:p>
            <a:pPr algn="l" marL="453390" indent="-226695" lvl="1">
              <a:lnSpc>
                <a:spcPts val="2940"/>
              </a:lnSpc>
              <a:buAutoNum type="arabicPeriod" startAt="1"/>
            </a:pPr>
            <a:r>
              <a:rPr lang="en-US" sz="2100">
                <a:solidFill>
                  <a:srgbClr val="866255"/>
                </a:solidFill>
                <a:latin typeface="Canva Sans"/>
                <a:ea typeface="Canva Sans"/>
                <a:cs typeface="Canva Sans"/>
                <a:sym typeface="Canva Sans"/>
              </a:rPr>
              <a:t>Add entanglement gates between qubits.</a:t>
            </a:r>
          </a:p>
          <a:p>
            <a:pPr algn="l">
              <a:lnSpc>
                <a:spcPts val="2940"/>
              </a:lnSpc>
            </a:pPr>
          </a:p>
          <a:p>
            <a:pPr algn="l">
              <a:lnSpc>
                <a:spcPts val="294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EEE7"/>
        </a:solidFill>
      </p:bgPr>
    </p:bg>
    <p:spTree>
      <p:nvGrpSpPr>
        <p:cNvPr id="1" name=""/>
        <p:cNvGrpSpPr/>
        <p:nvPr/>
      </p:nvGrpSpPr>
      <p:grpSpPr>
        <a:xfrm>
          <a:off x="0" y="0"/>
          <a:ext cx="0" cy="0"/>
          <a:chOff x="0" y="0"/>
          <a:chExt cx="0" cy="0"/>
        </a:xfrm>
      </p:grpSpPr>
      <p:sp>
        <p:nvSpPr>
          <p:cNvPr name="TextBox 2" id="2"/>
          <p:cNvSpPr txBox="true"/>
          <p:nvPr/>
        </p:nvSpPr>
        <p:spPr>
          <a:xfrm rot="0">
            <a:off x="699043" y="2152015"/>
            <a:ext cx="15390416" cy="4070985"/>
          </a:xfrm>
          <a:prstGeom prst="rect">
            <a:avLst/>
          </a:prstGeom>
        </p:spPr>
        <p:txBody>
          <a:bodyPr anchor="t" rtlCol="false" tIns="0" lIns="0" bIns="0" rIns="0">
            <a:spAutoFit/>
          </a:bodyPr>
          <a:lstStyle/>
          <a:p>
            <a:pPr algn="l">
              <a:lnSpc>
                <a:spcPts val="2940"/>
              </a:lnSpc>
            </a:pPr>
            <a:r>
              <a:rPr lang="en-US" sz="2100">
                <a:solidFill>
                  <a:srgbClr val="866255"/>
                </a:solidFill>
                <a:latin typeface="Canva Sans"/>
                <a:ea typeface="Canva Sans"/>
                <a:cs typeface="Canva Sans"/>
                <a:sym typeface="Canva Sans"/>
              </a:rPr>
              <a:t>Entangling Gates</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Usually a Controlle</a:t>
            </a:r>
            <a:r>
              <a:rPr lang="en-US" sz="2100">
                <a:solidFill>
                  <a:srgbClr val="866255"/>
                </a:solidFill>
                <a:latin typeface="Canva Sans"/>
                <a:ea typeface="Canva Sans"/>
                <a:cs typeface="Canva Sans"/>
                <a:sym typeface="Canva Sans"/>
              </a:rPr>
              <a:t>d-Z (CZ) between neighboring qubits.</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Purpose: make qubits interact → allows the circuit to capture correlations between features (like edges + orientation).</a:t>
            </a:r>
          </a:p>
          <a:p>
            <a:pPr algn="l">
              <a:lnSpc>
                <a:spcPts val="2940"/>
              </a:lnSpc>
            </a:pPr>
            <a:r>
              <a:rPr lang="en-US" sz="2100">
                <a:solidFill>
                  <a:srgbClr val="866255"/>
                </a:solidFill>
                <a:latin typeface="Canva Sans"/>
                <a:ea typeface="Canva Sans"/>
                <a:cs typeface="Canva Sans"/>
                <a:sym typeface="Canva Sans"/>
              </a:rPr>
              <a:t>Noise Injection (Rx(θ) with random θ)</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During training, small random rotations are added.</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Mimics real hardware noise (decoherence).</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Makes the model more robust.</a:t>
            </a:r>
          </a:p>
          <a:p>
            <a:pPr algn="l">
              <a:lnSpc>
                <a:spcPts val="2940"/>
              </a:lnSpc>
            </a:pPr>
            <a:r>
              <a:rPr lang="en-US" sz="2100">
                <a:solidFill>
                  <a:srgbClr val="866255"/>
                </a:solidFill>
                <a:latin typeface="Canva Sans"/>
                <a:ea typeface="Canva Sans"/>
                <a:cs typeface="Canva Sans"/>
                <a:sym typeface="Canva Sans"/>
              </a:rPr>
              <a:t>Measurement</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At the end, qubits are measured in the Z-basis.</a:t>
            </a:r>
          </a:p>
          <a:p>
            <a:pPr algn="l" marL="453390" indent="-226695" lvl="1">
              <a:lnSpc>
                <a:spcPts val="2940"/>
              </a:lnSpc>
              <a:buFont typeface="Arial"/>
              <a:buChar char="•"/>
            </a:pPr>
            <a:r>
              <a:rPr lang="en-US" sz="2100">
                <a:solidFill>
                  <a:srgbClr val="866255"/>
                </a:solidFill>
                <a:latin typeface="Canva Sans"/>
                <a:ea typeface="Canva Sans"/>
                <a:cs typeface="Canva Sans"/>
                <a:sym typeface="Canva Sans"/>
              </a:rPr>
              <a:t>Expectation values ⟨Z⟩\langle Z \rangle⟨Z⟩ give classical feature vector (quantum embedding).</a:t>
            </a:r>
          </a:p>
          <a:p>
            <a:pPr algn="ctr">
              <a:lnSpc>
                <a:spcPts val="2940"/>
              </a:lnSpc>
            </a:pPr>
          </a:p>
        </p:txBody>
      </p:sp>
      <p:sp>
        <p:nvSpPr>
          <p:cNvPr name="Freeform 3" id="3"/>
          <p:cNvSpPr/>
          <p:nvPr/>
        </p:nvSpPr>
        <p:spPr>
          <a:xfrm flipH="false" flipV="false" rot="0">
            <a:off x="7925711" y="3527803"/>
            <a:ext cx="9795040" cy="1812082"/>
          </a:xfrm>
          <a:custGeom>
            <a:avLst/>
            <a:gdLst/>
            <a:ahLst/>
            <a:cxnLst/>
            <a:rect r="r" b="b" t="t" l="l"/>
            <a:pathLst>
              <a:path h="1812082" w="9795040">
                <a:moveTo>
                  <a:pt x="0" y="0"/>
                </a:moveTo>
                <a:lnTo>
                  <a:pt x="9795040" y="0"/>
                </a:lnTo>
                <a:lnTo>
                  <a:pt x="9795040" y="1812083"/>
                </a:lnTo>
                <a:lnTo>
                  <a:pt x="0" y="1812083"/>
                </a:lnTo>
                <a:lnTo>
                  <a:pt x="0" y="0"/>
                </a:lnTo>
                <a:close/>
              </a:path>
            </a:pathLst>
          </a:custGeom>
          <a:blipFill>
            <a:blip r:embed="rId2"/>
            <a:stretch>
              <a:fillRect l="0" t="0" r="0" b="0"/>
            </a:stretch>
          </a:blipFill>
        </p:spPr>
      </p:sp>
      <p:sp>
        <p:nvSpPr>
          <p:cNvPr name="TextBox 4" id="4"/>
          <p:cNvSpPr txBox="true"/>
          <p:nvPr/>
        </p:nvSpPr>
        <p:spPr>
          <a:xfrm rot="0">
            <a:off x="220514" y="6832600"/>
            <a:ext cx="17846971" cy="2425700"/>
          </a:xfrm>
          <a:prstGeom prst="rect">
            <a:avLst/>
          </a:prstGeom>
        </p:spPr>
        <p:txBody>
          <a:bodyPr anchor="t" rtlCol="false" tIns="0" lIns="0" bIns="0" rIns="0">
            <a:spAutoFit/>
          </a:bodyPr>
          <a:lstStyle/>
          <a:p>
            <a:pPr algn="ctr">
              <a:lnSpc>
                <a:spcPts val="2940"/>
              </a:lnSpc>
            </a:pPr>
            <a:r>
              <a:rPr lang="en-US" b="true" sz="2100">
                <a:solidFill>
                  <a:srgbClr val="866255"/>
                </a:solidFill>
                <a:latin typeface="Canva Sans Bold"/>
                <a:ea typeface="Canva Sans Bold"/>
                <a:cs typeface="Canva Sans Bold"/>
                <a:sym typeface="Canva Sans Bold"/>
              </a:rPr>
              <a:t>After the fusiform stage</a:t>
            </a:r>
            <a:r>
              <a:rPr lang="en-US" sz="2100">
                <a:solidFill>
                  <a:srgbClr val="866255"/>
                </a:solidFill>
                <a:latin typeface="Canva Sans"/>
                <a:ea typeface="Canva Sans"/>
                <a:cs typeface="Canva Sans"/>
                <a:sym typeface="Canva Sans"/>
              </a:rPr>
              <a:t>, the quantum circuit has transformed the selected high-frequency patch into a compact quantum feature vector. These features are then combined with the classical low-spatial-frequency (LSF) features coming from the early visual pathway. </a:t>
            </a:r>
            <a:r>
              <a:rPr lang="en-US" b="true" sz="2100">
                <a:solidFill>
                  <a:srgbClr val="866255"/>
                </a:solidFill>
                <a:latin typeface="Canva Sans Bold"/>
                <a:ea typeface="Canva Sans Bold"/>
                <a:cs typeface="Canva Sans Bold"/>
                <a:sym typeface="Canva Sans Bold"/>
              </a:rPr>
              <a:t>The two streams — classical and quantum — are fused together into a single representation</a:t>
            </a:r>
            <a:r>
              <a:rPr lang="en-US" sz="2100">
                <a:solidFill>
                  <a:srgbClr val="866255"/>
                </a:solidFill>
                <a:latin typeface="Canva Sans"/>
                <a:ea typeface="Canva Sans"/>
                <a:cs typeface="Canva Sans"/>
                <a:sym typeface="Canva Sans"/>
              </a:rPr>
              <a:t> that now carries both the global structure (from LSF) and the fine details (from quantum). This fused vector is passed into a </a:t>
            </a:r>
            <a:r>
              <a:rPr lang="en-US" b="true" sz="2100">
                <a:solidFill>
                  <a:srgbClr val="866255"/>
                </a:solidFill>
                <a:latin typeface="Canva Sans Bold"/>
                <a:ea typeface="Canva Sans Bold"/>
                <a:cs typeface="Canva Sans Bold"/>
                <a:sym typeface="Canva Sans Bold"/>
              </a:rPr>
              <a:t>classical classifier,</a:t>
            </a:r>
            <a:r>
              <a:rPr lang="en-US" sz="2100">
                <a:solidFill>
                  <a:srgbClr val="866255"/>
                </a:solidFill>
                <a:latin typeface="Canva Sans"/>
                <a:ea typeface="Canva Sans"/>
                <a:cs typeface="Canva Sans"/>
                <a:sym typeface="Canva Sans"/>
              </a:rPr>
              <a:t>  a small neural network, which learns to s</a:t>
            </a:r>
            <a:r>
              <a:rPr lang="en-US" b="true" sz="2100">
                <a:solidFill>
                  <a:srgbClr val="866255"/>
                </a:solidFill>
                <a:latin typeface="Canva Sans Bold"/>
                <a:ea typeface="Canva Sans Bold"/>
                <a:cs typeface="Canva Sans Bold"/>
                <a:sym typeface="Canva Sans Bold"/>
              </a:rPr>
              <a:t>eparate the classes</a:t>
            </a:r>
            <a:r>
              <a:rPr lang="en-US" sz="2100">
                <a:solidFill>
                  <a:srgbClr val="866255"/>
                </a:solidFill>
                <a:latin typeface="Canva Sans"/>
                <a:ea typeface="Canva Sans"/>
                <a:cs typeface="Canva Sans"/>
                <a:sym typeface="Canva Sans"/>
              </a:rPr>
              <a:t>. </a:t>
            </a:r>
          </a:p>
          <a:p>
            <a:pPr algn="ctr">
              <a:lnSpc>
                <a:spcPts val="4759"/>
              </a:lnSpc>
            </a:pPr>
          </a:p>
        </p:txBody>
      </p:sp>
      <p:sp>
        <p:nvSpPr>
          <p:cNvPr name="TextBox 5" id="5"/>
          <p:cNvSpPr txBox="true"/>
          <p:nvPr/>
        </p:nvSpPr>
        <p:spPr>
          <a:xfrm rot="0">
            <a:off x="2860844" y="962025"/>
            <a:ext cx="10405270" cy="580390"/>
          </a:xfrm>
          <a:prstGeom prst="rect">
            <a:avLst/>
          </a:prstGeom>
        </p:spPr>
        <p:txBody>
          <a:bodyPr anchor="t" rtlCol="false" tIns="0" lIns="0" bIns="0" rIns="0">
            <a:spAutoFit/>
          </a:bodyPr>
          <a:lstStyle/>
          <a:p>
            <a:pPr algn="ctr">
              <a:lnSpc>
                <a:spcPts val="4759"/>
              </a:lnSpc>
            </a:pPr>
            <a:r>
              <a:rPr lang="en-US" sz="3399" b="true">
                <a:solidFill>
                  <a:srgbClr val="866255"/>
                </a:solidFill>
                <a:latin typeface="Canva Sans Bold"/>
                <a:ea typeface="Canva Sans Bold"/>
                <a:cs typeface="Canva Sans Bold"/>
                <a:sym typeface="Canva Sans Bold"/>
              </a:rPr>
              <a:t>Follow the Fusiform and the algorithm final touch</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EEE7"/>
        </a:solidFill>
      </p:bgPr>
    </p:bg>
    <p:spTree>
      <p:nvGrpSpPr>
        <p:cNvPr id="1" name=""/>
        <p:cNvGrpSpPr/>
        <p:nvPr/>
      </p:nvGrpSpPr>
      <p:grpSpPr>
        <a:xfrm>
          <a:off x="0" y="0"/>
          <a:ext cx="0" cy="0"/>
          <a:chOff x="0" y="0"/>
          <a:chExt cx="0" cy="0"/>
        </a:xfrm>
      </p:grpSpPr>
      <p:sp>
        <p:nvSpPr>
          <p:cNvPr name="Freeform 2" id="2"/>
          <p:cNvSpPr/>
          <p:nvPr/>
        </p:nvSpPr>
        <p:spPr>
          <a:xfrm flipH="false" flipV="false" rot="0">
            <a:off x="566910" y="3950796"/>
            <a:ext cx="7443937" cy="4467494"/>
          </a:xfrm>
          <a:custGeom>
            <a:avLst/>
            <a:gdLst/>
            <a:ahLst/>
            <a:cxnLst/>
            <a:rect r="r" b="b" t="t" l="l"/>
            <a:pathLst>
              <a:path h="4467494" w="7443937">
                <a:moveTo>
                  <a:pt x="0" y="0"/>
                </a:moveTo>
                <a:lnTo>
                  <a:pt x="7443937" y="0"/>
                </a:lnTo>
                <a:lnTo>
                  <a:pt x="7443937" y="4467494"/>
                </a:lnTo>
                <a:lnTo>
                  <a:pt x="0" y="4467494"/>
                </a:lnTo>
                <a:lnTo>
                  <a:pt x="0" y="0"/>
                </a:lnTo>
                <a:close/>
              </a:path>
            </a:pathLst>
          </a:custGeom>
          <a:blipFill>
            <a:blip r:embed="rId2"/>
            <a:stretch>
              <a:fillRect l="0" t="-299" r="0" b="-299"/>
            </a:stretch>
          </a:blipFill>
        </p:spPr>
      </p:sp>
      <p:sp>
        <p:nvSpPr>
          <p:cNvPr name="Freeform 3" id="3"/>
          <p:cNvSpPr/>
          <p:nvPr/>
        </p:nvSpPr>
        <p:spPr>
          <a:xfrm flipH="false" flipV="false" rot="0">
            <a:off x="69593" y="9370706"/>
            <a:ext cx="10750923" cy="475581"/>
          </a:xfrm>
          <a:custGeom>
            <a:avLst/>
            <a:gdLst/>
            <a:ahLst/>
            <a:cxnLst/>
            <a:rect r="r" b="b" t="t" l="l"/>
            <a:pathLst>
              <a:path h="475581" w="10750923">
                <a:moveTo>
                  <a:pt x="0" y="0"/>
                </a:moveTo>
                <a:lnTo>
                  <a:pt x="10750923" y="0"/>
                </a:lnTo>
                <a:lnTo>
                  <a:pt x="10750923" y="475581"/>
                </a:lnTo>
                <a:lnTo>
                  <a:pt x="0" y="475581"/>
                </a:lnTo>
                <a:lnTo>
                  <a:pt x="0" y="0"/>
                </a:lnTo>
                <a:close/>
              </a:path>
            </a:pathLst>
          </a:custGeom>
          <a:blipFill>
            <a:blip r:embed="rId3"/>
            <a:stretch>
              <a:fillRect l="-1743" t="0" r="0" b="0"/>
            </a:stretch>
          </a:blipFill>
        </p:spPr>
      </p:sp>
      <p:sp>
        <p:nvSpPr>
          <p:cNvPr name="Freeform 4" id="4"/>
          <p:cNvSpPr/>
          <p:nvPr/>
        </p:nvSpPr>
        <p:spPr>
          <a:xfrm flipH="false" flipV="false" rot="0">
            <a:off x="9541555" y="1714557"/>
            <a:ext cx="7489996" cy="3598954"/>
          </a:xfrm>
          <a:custGeom>
            <a:avLst/>
            <a:gdLst/>
            <a:ahLst/>
            <a:cxnLst/>
            <a:rect r="r" b="b" t="t" l="l"/>
            <a:pathLst>
              <a:path h="3598954" w="7489996">
                <a:moveTo>
                  <a:pt x="0" y="0"/>
                </a:moveTo>
                <a:lnTo>
                  <a:pt x="7489997" y="0"/>
                </a:lnTo>
                <a:lnTo>
                  <a:pt x="7489997" y="3598954"/>
                </a:lnTo>
                <a:lnTo>
                  <a:pt x="0" y="3598954"/>
                </a:lnTo>
                <a:lnTo>
                  <a:pt x="0" y="0"/>
                </a:lnTo>
                <a:close/>
              </a:path>
            </a:pathLst>
          </a:custGeom>
          <a:blipFill>
            <a:blip r:embed="rId4"/>
            <a:stretch>
              <a:fillRect l="0" t="0" r="0" b="0"/>
            </a:stretch>
          </a:blipFill>
        </p:spPr>
      </p:sp>
      <p:sp>
        <p:nvSpPr>
          <p:cNvPr name="Freeform 5" id="5"/>
          <p:cNvSpPr/>
          <p:nvPr/>
        </p:nvSpPr>
        <p:spPr>
          <a:xfrm flipH="false" flipV="false" rot="0">
            <a:off x="9572967" y="5637348"/>
            <a:ext cx="7427173" cy="3409521"/>
          </a:xfrm>
          <a:custGeom>
            <a:avLst/>
            <a:gdLst/>
            <a:ahLst/>
            <a:cxnLst/>
            <a:rect r="r" b="b" t="t" l="l"/>
            <a:pathLst>
              <a:path h="3409521" w="7427173">
                <a:moveTo>
                  <a:pt x="0" y="0"/>
                </a:moveTo>
                <a:lnTo>
                  <a:pt x="7427173" y="0"/>
                </a:lnTo>
                <a:lnTo>
                  <a:pt x="7427173" y="3409521"/>
                </a:lnTo>
                <a:lnTo>
                  <a:pt x="0" y="3409521"/>
                </a:lnTo>
                <a:lnTo>
                  <a:pt x="0" y="0"/>
                </a:lnTo>
                <a:close/>
              </a:path>
            </a:pathLst>
          </a:custGeom>
          <a:blipFill>
            <a:blip r:embed="rId5"/>
            <a:stretch>
              <a:fillRect l="0" t="0" r="0" b="0"/>
            </a:stretch>
          </a:blipFill>
        </p:spPr>
      </p:sp>
      <p:sp>
        <p:nvSpPr>
          <p:cNvPr name="TextBox 6" id="6"/>
          <p:cNvSpPr txBox="true"/>
          <p:nvPr/>
        </p:nvSpPr>
        <p:spPr>
          <a:xfrm rot="0">
            <a:off x="6434694" y="358612"/>
            <a:ext cx="4293989" cy="811530"/>
          </a:xfrm>
          <a:prstGeom prst="rect">
            <a:avLst/>
          </a:prstGeom>
        </p:spPr>
        <p:txBody>
          <a:bodyPr anchor="t" rtlCol="false" tIns="0" lIns="0" bIns="0" rIns="0">
            <a:spAutoFit/>
          </a:bodyPr>
          <a:lstStyle/>
          <a:p>
            <a:pPr algn="ctr">
              <a:lnSpc>
                <a:spcPts val="6719"/>
              </a:lnSpc>
            </a:pPr>
            <a:r>
              <a:rPr lang="en-US" sz="4800" b="true">
                <a:solidFill>
                  <a:srgbClr val="866255"/>
                </a:solidFill>
                <a:latin typeface="Canva Sans Bold"/>
                <a:ea typeface="Canva Sans Bold"/>
                <a:cs typeface="Canva Sans Bold"/>
                <a:sym typeface="Canva Sans Bold"/>
              </a:rPr>
              <a:t>Benchmarking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EEE7"/>
        </a:solidFill>
      </p:bgPr>
    </p:bg>
    <p:spTree>
      <p:nvGrpSpPr>
        <p:cNvPr id="1" name=""/>
        <p:cNvGrpSpPr/>
        <p:nvPr/>
      </p:nvGrpSpPr>
      <p:grpSpPr>
        <a:xfrm>
          <a:off x="0" y="0"/>
          <a:ext cx="0" cy="0"/>
          <a:chOff x="0" y="0"/>
          <a:chExt cx="0" cy="0"/>
        </a:xfrm>
      </p:grpSpPr>
      <p:sp>
        <p:nvSpPr>
          <p:cNvPr name="Freeform 2" id="2"/>
          <p:cNvSpPr/>
          <p:nvPr/>
        </p:nvSpPr>
        <p:spPr>
          <a:xfrm flipH="false" flipV="false" rot="0">
            <a:off x="11158468" y="1513107"/>
            <a:ext cx="6996786" cy="6109612"/>
          </a:xfrm>
          <a:custGeom>
            <a:avLst/>
            <a:gdLst/>
            <a:ahLst/>
            <a:cxnLst/>
            <a:rect r="r" b="b" t="t" l="l"/>
            <a:pathLst>
              <a:path h="6109612" w="6996786">
                <a:moveTo>
                  <a:pt x="0" y="0"/>
                </a:moveTo>
                <a:lnTo>
                  <a:pt x="6996787" y="0"/>
                </a:lnTo>
                <a:lnTo>
                  <a:pt x="6996787" y="6109612"/>
                </a:lnTo>
                <a:lnTo>
                  <a:pt x="0" y="6109612"/>
                </a:lnTo>
                <a:lnTo>
                  <a:pt x="0" y="0"/>
                </a:lnTo>
                <a:close/>
              </a:path>
            </a:pathLst>
          </a:custGeom>
          <a:blipFill>
            <a:blip r:embed="rId2"/>
            <a:stretch>
              <a:fillRect l="0" t="0" r="0" b="0"/>
            </a:stretch>
          </a:blipFill>
        </p:spPr>
      </p:sp>
      <p:sp>
        <p:nvSpPr>
          <p:cNvPr name="TextBox 3" id="3"/>
          <p:cNvSpPr txBox="true"/>
          <p:nvPr/>
        </p:nvSpPr>
        <p:spPr>
          <a:xfrm rot="0">
            <a:off x="9425906" y="7768067"/>
            <a:ext cx="9525" cy="1783714"/>
          </a:xfrm>
          <a:prstGeom prst="rect">
            <a:avLst/>
          </a:prstGeom>
        </p:spPr>
        <p:txBody>
          <a:bodyPr anchor="t" rtlCol="false" tIns="0" lIns="0" bIns="0" rIns="0">
            <a:spAutoFit/>
          </a:bodyPr>
          <a:lstStyle/>
          <a:p>
            <a:pPr algn="ctr">
              <a:lnSpc>
                <a:spcPts val="14560"/>
              </a:lnSpc>
              <a:spcBef>
                <a:spcPct val="0"/>
              </a:spcBef>
            </a:pPr>
          </a:p>
        </p:txBody>
      </p:sp>
      <p:sp>
        <p:nvSpPr>
          <p:cNvPr name="TextBox 4" id="4"/>
          <p:cNvSpPr txBox="true"/>
          <p:nvPr/>
        </p:nvSpPr>
        <p:spPr>
          <a:xfrm rot="0">
            <a:off x="536167" y="413740"/>
            <a:ext cx="11153484" cy="1588770"/>
          </a:xfrm>
          <a:prstGeom prst="rect">
            <a:avLst/>
          </a:prstGeom>
        </p:spPr>
        <p:txBody>
          <a:bodyPr anchor="t" rtlCol="false" tIns="0" lIns="0" bIns="0" rIns="0">
            <a:spAutoFit/>
          </a:bodyPr>
          <a:lstStyle/>
          <a:p>
            <a:pPr algn="ctr">
              <a:lnSpc>
                <a:spcPts val="6719"/>
              </a:lnSpc>
            </a:pPr>
            <a:r>
              <a:rPr lang="en-US" sz="4800" b="true">
                <a:solidFill>
                  <a:srgbClr val="866255"/>
                </a:solidFill>
                <a:latin typeface="Canva Sans Bold"/>
                <a:ea typeface="Canva Sans Bold"/>
                <a:cs typeface="Canva Sans Bold"/>
                <a:sym typeface="Canva Sans Bold"/>
              </a:rPr>
              <a:t> Ablation study of BIQC components</a:t>
            </a:r>
          </a:p>
          <a:p>
            <a:pPr algn="ctr">
              <a:lnSpc>
                <a:spcPts val="2940"/>
              </a:lnSpc>
            </a:pPr>
            <a:r>
              <a:rPr lang="en-US" sz="2100">
                <a:solidFill>
                  <a:srgbClr val="866255"/>
                </a:solidFill>
                <a:latin typeface="Canva Sans"/>
                <a:ea typeface="Canva Sans"/>
                <a:cs typeface="Canva Sans"/>
                <a:sym typeface="Canva Sans"/>
              </a:rPr>
              <a:t>To investigate the contributions of each modules in BIQC and validate their correspondence to the high- and low-frequency mechanisms.</a:t>
            </a:r>
          </a:p>
        </p:txBody>
      </p:sp>
      <p:grpSp>
        <p:nvGrpSpPr>
          <p:cNvPr name="Group 5" id="5"/>
          <p:cNvGrpSpPr/>
          <p:nvPr/>
        </p:nvGrpSpPr>
        <p:grpSpPr>
          <a:xfrm rot="0">
            <a:off x="5469580" y="7968092"/>
            <a:ext cx="7348840" cy="2011700"/>
            <a:chOff x="0" y="0"/>
            <a:chExt cx="1935497" cy="529830"/>
          </a:xfrm>
        </p:grpSpPr>
        <p:sp>
          <p:nvSpPr>
            <p:cNvPr name="Freeform 6" id="6"/>
            <p:cNvSpPr/>
            <p:nvPr/>
          </p:nvSpPr>
          <p:spPr>
            <a:xfrm flipH="false" flipV="false" rot="0">
              <a:off x="0" y="0"/>
              <a:ext cx="1935497" cy="529830"/>
            </a:xfrm>
            <a:custGeom>
              <a:avLst/>
              <a:gdLst/>
              <a:ahLst/>
              <a:cxnLst/>
              <a:rect r="r" b="b" t="t" l="l"/>
              <a:pathLst>
                <a:path h="529830" w="1935497">
                  <a:moveTo>
                    <a:pt x="0" y="0"/>
                  </a:moveTo>
                  <a:lnTo>
                    <a:pt x="1935497" y="0"/>
                  </a:lnTo>
                  <a:lnTo>
                    <a:pt x="1935497" y="529830"/>
                  </a:lnTo>
                  <a:lnTo>
                    <a:pt x="0" y="529830"/>
                  </a:lnTo>
                  <a:close/>
                </a:path>
              </a:pathLst>
            </a:custGeom>
            <a:solidFill>
              <a:srgbClr val="AD947E"/>
            </a:solidFill>
          </p:spPr>
        </p:sp>
        <p:sp>
          <p:nvSpPr>
            <p:cNvPr name="TextBox 7" id="7"/>
            <p:cNvSpPr txBox="true"/>
            <p:nvPr/>
          </p:nvSpPr>
          <p:spPr>
            <a:xfrm>
              <a:off x="0" y="-38100"/>
              <a:ext cx="1935497" cy="56793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112909" y="8324070"/>
            <a:ext cx="6242009" cy="1253490"/>
          </a:xfrm>
          <a:prstGeom prst="rect">
            <a:avLst/>
          </a:prstGeom>
        </p:spPr>
        <p:txBody>
          <a:bodyPr anchor="t" rtlCol="false" tIns="0" lIns="0" bIns="0" rIns="0">
            <a:spAutoFit/>
          </a:bodyPr>
          <a:lstStyle/>
          <a:p>
            <a:pPr algn="just">
              <a:lnSpc>
                <a:spcPts val="3359"/>
              </a:lnSpc>
            </a:pPr>
            <a:r>
              <a:rPr lang="en-US" sz="2400">
                <a:solidFill>
                  <a:srgbClr val="F4EEE7"/>
                </a:solidFill>
                <a:latin typeface="Glacial Indifference"/>
                <a:ea typeface="Glacial Indifference"/>
                <a:cs typeface="Glacial Indifference"/>
                <a:sym typeface="Glacial Indifference"/>
              </a:rPr>
              <a:t>All pictures and charts are from the paper</a:t>
            </a:r>
          </a:p>
          <a:p>
            <a:pPr algn="just">
              <a:lnSpc>
                <a:spcPts val="3359"/>
              </a:lnSpc>
            </a:pPr>
            <a:r>
              <a:rPr lang="en-US" sz="2400" u="sng">
                <a:solidFill>
                  <a:srgbClr val="F4EEE7"/>
                </a:solidFill>
                <a:latin typeface="Glacial Indifference"/>
                <a:ea typeface="Glacial Indifference"/>
                <a:cs typeface="Glacial Indifference"/>
                <a:sym typeface="Glacial Indifference"/>
                <a:hlinkClick r:id="rId3" tooltip="https://arxiv.org/abs/2509.05919"/>
              </a:rPr>
              <a:t>A brain-inspired paradigm for quantum vision</a:t>
            </a:r>
          </a:p>
          <a:p>
            <a:pPr algn="just">
              <a:lnSpc>
                <a:spcPts val="3359"/>
              </a:lnSpc>
            </a:pPr>
            <a:r>
              <a:rPr lang="en-US" sz="2400" i="true" u="sng">
                <a:solidFill>
                  <a:srgbClr val="F4EEE7"/>
                </a:solidFill>
                <a:latin typeface="Glacial Indifference Italics"/>
                <a:ea typeface="Glacial Indifference Italics"/>
                <a:cs typeface="Glacial Indifference Italics"/>
                <a:sym typeface="Glacial Indifference Italics"/>
              </a:rPr>
              <a:t>[Submitted on 7 Sep 2025]</a:t>
            </a:r>
          </a:p>
        </p:txBody>
      </p:sp>
      <p:sp>
        <p:nvSpPr>
          <p:cNvPr name="TextBox 9" id="9"/>
          <p:cNvSpPr txBox="true"/>
          <p:nvPr/>
        </p:nvSpPr>
        <p:spPr>
          <a:xfrm rot="0">
            <a:off x="153938" y="2466986"/>
            <a:ext cx="10770490" cy="4813935"/>
          </a:xfrm>
          <a:prstGeom prst="rect">
            <a:avLst/>
          </a:prstGeom>
        </p:spPr>
        <p:txBody>
          <a:bodyPr anchor="t" rtlCol="false" tIns="0" lIns="0" bIns="0" rIns="0">
            <a:spAutoFit/>
          </a:bodyPr>
          <a:lstStyle/>
          <a:p>
            <a:pPr algn="ctr" marL="453390" indent="-226695" lvl="1">
              <a:lnSpc>
                <a:spcPts val="2940"/>
              </a:lnSpc>
              <a:buFont typeface="Arial"/>
              <a:buChar char="•"/>
            </a:pPr>
            <a:r>
              <a:rPr lang="en-US" sz="2100">
                <a:solidFill>
                  <a:srgbClr val="000000"/>
                </a:solidFill>
                <a:latin typeface="Canva Sans"/>
                <a:ea typeface="Canva Sans"/>
                <a:cs typeface="Canva Sans"/>
                <a:sym typeface="Canva Sans"/>
              </a:rPr>
              <a:t>Removing the EVC mo</a:t>
            </a:r>
            <a:r>
              <a:rPr lang="en-US" sz="2100">
                <a:solidFill>
                  <a:srgbClr val="000000"/>
                </a:solidFill>
                <a:latin typeface="Canva Sans"/>
                <a:ea typeface="Canva Sans"/>
                <a:cs typeface="Canva Sans"/>
                <a:sym typeface="Canva Sans"/>
              </a:rPr>
              <a:t>dule, which eliminates low-frequency feature extraction, significantly reduces accuracy on MNIST 8 × 8. This underscores the foundational role of global information.  </a:t>
            </a:r>
          </a:p>
          <a:p>
            <a:pPr algn="ctr" marL="453390" indent="-226695" lvl="1">
              <a:lnSpc>
                <a:spcPts val="2940"/>
              </a:lnSpc>
              <a:buFont typeface="Arial"/>
              <a:buChar char="•"/>
            </a:pPr>
            <a:r>
              <a:rPr lang="en-US" sz="2100">
                <a:solidFill>
                  <a:srgbClr val="000000"/>
                </a:solidFill>
                <a:latin typeface="Canva Sans"/>
                <a:ea typeface="Canva Sans"/>
                <a:cs typeface="Canva Sans"/>
                <a:sym typeface="Canva Sans"/>
              </a:rPr>
              <a:t>Eliminating the HSF pathway, leaving only the LSF pathway, also lowers accuracy, </a:t>
            </a:r>
            <a:r>
              <a:rPr lang="en-US" b="true" sz="2100">
                <a:solidFill>
                  <a:srgbClr val="000000"/>
                </a:solidFill>
                <a:latin typeface="Canva Sans Bold"/>
                <a:ea typeface="Canva Sans Bold"/>
                <a:cs typeface="Canva Sans Bold"/>
                <a:sym typeface="Canva Sans Bold"/>
              </a:rPr>
              <a:t>confirming the benefit of integrating both coarse and fine-grained features</a:t>
            </a:r>
            <a:r>
              <a:rPr lang="en-US" sz="2100">
                <a:solidFill>
                  <a:srgbClr val="000000"/>
                </a:solidFill>
                <a:latin typeface="Canva Sans"/>
                <a:ea typeface="Canva Sans"/>
                <a:cs typeface="Canva Sans"/>
                <a:sym typeface="Canva Sans"/>
              </a:rPr>
              <a:t>.       </a:t>
            </a:r>
          </a:p>
          <a:p>
            <a:pPr algn="ctr" marL="453390" indent="-226695" lvl="1">
              <a:lnSpc>
                <a:spcPts val="2940"/>
              </a:lnSpc>
              <a:buFont typeface="Arial"/>
              <a:buChar char="•"/>
            </a:pPr>
            <a:r>
              <a:rPr lang="en-US" sz="2100">
                <a:solidFill>
                  <a:srgbClr val="000000"/>
                </a:solidFill>
                <a:latin typeface="Canva Sans"/>
                <a:ea typeface="Canva Sans"/>
                <a:cs typeface="Canva Sans"/>
                <a:sym typeface="Canva Sans"/>
              </a:rPr>
              <a:t>Disabling OFC attention-based HSF localization </a:t>
            </a:r>
            <a:r>
              <a:rPr lang="en-US" b="true" sz="2100">
                <a:solidFill>
                  <a:srgbClr val="000000"/>
                </a:solidFill>
                <a:latin typeface="Canva Sans Bold"/>
                <a:ea typeface="Canva Sans Bold"/>
                <a:cs typeface="Canva Sans Bold"/>
                <a:sym typeface="Canva Sans Bold"/>
              </a:rPr>
              <a:t>reduces performance on high resolution datasets,</a:t>
            </a:r>
            <a:r>
              <a:rPr lang="en-US" sz="2100">
                <a:solidFill>
                  <a:srgbClr val="000000"/>
                </a:solidFill>
                <a:latin typeface="Canva Sans"/>
                <a:ea typeface="Canva Sans"/>
                <a:cs typeface="Canva Sans"/>
                <a:sym typeface="Canva Sans"/>
              </a:rPr>
              <a:t> emphasizing the need to accurately target HSF regions to utilize quantum benefits.</a:t>
            </a:r>
          </a:p>
          <a:p>
            <a:pPr algn="ctr" marL="453390" indent="-226695" lvl="1">
              <a:lnSpc>
                <a:spcPts val="2940"/>
              </a:lnSpc>
              <a:buFont typeface="Arial"/>
              <a:buChar char="•"/>
            </a:pPr>
            <a:r>
              <a:rPr lang="en-US" sz="2100">
                <a:solidFill>
                  <a:srgbClr val="000000"/>
                </a:solidFill>
                <a:latin typeface="Canva Sans"/>
                <a:ea typeface="Canva Sans"/>
                <a:cs typeface="Canva Sans"/>
                <a:sym typeface="Canva Sans"/>
              </a:rPr>
              <a:t> Finally, replacing the data re-uploading quantum circuit in the Fusiform module with a classical MLP results in a performance decline on DTD, </a:t>
            </a:r>
            <a:r>
              <a:rPr lang="en-US" b="true" sz="2100">
                <a:solidFill>
                  <a:srgbClr val="000000"/>
                </a:solidFill>
                <a:latin typeface="Canva Sans Bold"/>
                <a:ea typeface="Canva Sans Bold"/>
                <a:cs typeface="Canva Sans Bold"/>
                <a:sym typeface="Canva Sans Bold"/>
              </a:rPr>
              <a:t>indicating that quantum processing is crucial for capturing intricate high-frequency texture feature</a:t>
            </a:r>
            <a:r>
              <a:rPr lang="en-US" sz="2100">
                <a:solidFill>
                  <a:srgbClr val="000000"/>
                </a:solidFill>
                <a:latin typeface="Canva Sans"/>
                <a:ea typeface="Canva Sans"/>
                <a:cs typeface="Canva Sans"/>
                <a:sym typeface="Canva Sans"/>
              </a:rPr>
              <a:t>s, emulating the Fusiform’s detailed HSF analysis.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EEE7"/>
        </a:solidFill>
      </p:bgPr>
    </p:bg>
    <p:spTree>
      <p:nvGrpSpPr>
        <p:cNvPr id="1" name=""/>
        <p:cNvGrpSpPr/>
        <p:nvPr/>
      </p:nvGrpSpPr>
      <p:grpSpPr>
        <a:xfrm>
          <a:off x="0" y="0"/>
          <a:ext cx="0" cy="0"/>
          <a:chOff x="0" y="0"/>
          <a:chExt cx="0" cy="0"/>
        </a:xfrm>
      </p:grpSpPr>
      <p:sp>
        <p:nvSpPr>
          <p:cNvPr name="TextBox 2" id="2"/>
          <p:cNvSpPr txBox="true"/>
          <p:nvPr/>
        </p:nvSpPr>
        <p:spPr>
          <a:xfrm rot="0">
            <a:off x="10266909" y="3457595"/>
            <a:ext cx="6618863" cy="2956560"/>
          </a:xfrm>
          <a:prstGeom prst="rect">
            <a:avLst/>
          </a:prstGeom>
        </p:spPr>
        <p:txBody>
          <a:bodyPr anchor="t" rtlCol="false" tIns="0" lIns="0" bIns="0" rIns="0">
            <a:spAutoFit/>
          </a:bodyPr>
          <a:lstStyle/>
          <a:p>
            <a:pPr algn="just">
              <a:lnSpc>
                <a:spcPts val="2940"/>
              </a:lnSpc>
            </a:pPr>
            <a:r>
              <a:rPr lang="en-US" sz="2100">
                <a:solidFill>
                  <a:srgbClr val="866255"/>
                </a:solidFill>
                <a:latin typeface="Canva Sans"/>
                <a:ea typeface="Canva Sans"/>
                <a:cs typeface="Canva Sans"/>
                <a:sym typeface="Canva Sans"/>
              </a:rPr>
              <a:t>“Quantum Technologies:</a:t>
            </a:r>
            <a:r>
              <a:rPr lang="en-US" sz="2100">
                <a:solidFill>
                  <a:srgbClr val="866255"/>
                </a:solidFill>
                <a:latin typeface="Canva Sans"/>
                <a:ea typeface="Canva Sans"/>
                <a:cs typeface="Canva Sans"/>
                <a:sym typeface="Canva Sans"/>
                <a:hlinkClick r:id="rId2" tooltip="https://eui.edu.eg/events/quantum-workshop-25"/>
              </a:rPr>
              <a:t> ”</a:t>
            </a:r>
            <a:r>
              <a:rPr lang="en-US" b="true" sz="2100" u="sng">
                <a:solidFill>
                  <a:srgbClr val="866255"/>
                </a:solidFill>
                <a:latin typeface="Canva Sans Bold"/>
                <a:ea typeface="Canva Sans Bold"/>
                <a:cs typeface="Canva Sans Bold"/>
                <a:sym typeface="Canva Sans Bold"/>
                <a:hlinkClick r:id="rId3" tooltip="https://eui.edu.eg/events/quantum-workshop-25"/>
              </a:rPr>
              <a:t>Opportunities and Challenges – Egypt Perspective</a:t>
            </a:r>
            <a:r>
              <a:rPr lang="en-US" sz="2100" u="sng">
                <a:solidFill>
                  <a:srgbClr val="866255"/>
                </a:solidFill>
                <a:latin typeface="Canva Sans"/>
                <a:ea typeface="Canva Sans"/>
                <a:cs typeface="Canva Sans"/>
                <a:sym typeface="Canva Sans"/>
                <a:hlinkClick r:id="rId4" tooltip="https://eui.edu.eg/events/quantum-workshop-25"/>
              </a:rPr>
              <a:t>”</a:t>
            </a:r>
            <a:r>
              <a:rPr lang="en-US" sz="2100">
                <a:solidFill>
                  <a:srgbClr val="866255"/>
                </a:solidFill>
                <a:latin typeface="Canva Sans"/>
                <a:ea typeface="Canva Sans"/>
                <a:cs typeface="Canva Sans"/>
                <a:sym typeface="Canva Sans"/>
              </a:rPr>
              <a:t> workshop</a:t>
            </a:r>
          </a:p>
          <a:p>
            <a:pPr algn="just">
              <a:lnSpc>
                <a:spcPts val="2940"/>
              </a:lnSpc>
            </a:pPr>
            <a:r>
              <a:rPr lang="en-US" sz="2100">
                <a:solidFill>
                  <a:srgbClr val="866255"/>
                </a:solidFill>
                <a:latin typeface="Canva Sans"/>
                <a:ea typeface="Canva Sans"/>
                <a:cs typeface="Canva Sans"/>
                <a:sym typeface="Canva Sans"/>
              </a:rPr>
              <a:t>Held February 17-18, 2025 at Egypt University of Informatics (EUI), New Administrative Capital. Under the auspices of the Ministry of</a:t>
            </a:r>
            <a:r>
              <a:rPr lang="en-US" sz="2100">
                <a:solidFill>
                  <a:srgbClr val="866255"/>
                </a:solidFill>
                <a:latin typeface="Canva Sans"/>
                <a:ea typeface="Canva Sans"/>
                <a:cs typeface="Canva Sans"/>
                <a:sym typeface="Canva Sans"/>
              </a:rPr>
              <a:t> Communications &amp; Information Technology; brings together experts to discuss quantum technology from Egypt’s perspective.</a:t>
            </a:r>
          </a:p>
        </p:txBody>
      </p:sp>
      <p:sp>
        <p:nvSpPr>
          <p:cNvPr name="TextBox 3" id="3"/>
          <p:cNvSpPr txBox="true"/>
          <p:nvPr/>
        </p:nvSpPr>
        <p:spPr>
          <a:xfrm rot="0">
            <a:off x="5813161" y="258016"/>
            <a:ext cx="5456795" cy="1398494"/>
          </a:xfrm>
          <a:prstGeom prst="rect">
            <a:avLst/>
          </a:prstGeom>
        </p:spPr>
        <p:txBody>
          <a:bodyPr anchor="t" rtlCol="false" tIns="0" lIns="0" bIns="0" rIns="0">
            <a:spAutoFit/>
          </a:bodyPr>
          <a:lstStyle/>
          <a:p>
            <a:pPr algn="l">
              <a:lnSpc>
                <a:spcPts val="9544"/>
              </a:lnSpc>
            </a:pPr>
            <a:r>
              <a:rPr lang="en-US" sz="8088" b="true">
                <a:solidFill>
                  <a:srgbClr val="866255"/>
                </a:solidFill>
                <a:latin typeface="The Seasons Bold"/>
                <a:ea typeface="The Seasons Bold"/>
                <a:cs typeface="The Seasons Bold"/>
                <a:sym typeface="The Seasons Bold"/>
              </a:rPr>
              <a:t>NEWS TIME</a:t>
            </a:r>
          </a:p>
        </p:txBody>
      </p:sp>
      <p:sp>
        <p:nvSpPr>
          <p:cNvPr name="TextBox 4" id="4"/>
          <p:cNvSpPr txBox="true"/>
          <p:nvPr/>
        </p:nvSpPr>
        <p:spPr>
          <a:xfrm rot="0">
            <a:off x="9831446" y="1953280"/>
            <a:ext cx="6695937" cy="1180465"/>
          </a:xfrm>
          <a:prstGeom prst="rect">
            <a:avLst/>
          </a:prstGeom>
        </p:spPr>
        <p:txBody>
          <a:bodyPr anchor="t" rtlCol="false" tIns="0" lIns="0" bIns="0" rIns="0">
            <a:spAutoFit/>
          </a:bodyPr>
          <a:lstStyle/>
          <a:p>
            <a:pPr algn="ctr">
              <a:lnSpc>
                <a:spcPts val="4759"/>
              </a:lnSpc>
            </a:pPr>
            <a:r>
              <a:rPr lang="en-US" sz="3399" b="true">
                <a:solidFill>
                  <a:srgbClr val="866255"/>
                </a:solidFill>
                <a:latin typeface="Canva Sans Bold"/>
                <a:ea typeface="Canva Sans Bold"/>
                <a:cs typeface="Canva Sans Bold"/>
                <a:sym typeface="Canva Sans Bold"/>
              </a:rPr>
              <a:t>Searching about the Egyptian advancements in QC</a:t>
            </a:r>
          </a:p>
        </p:txBody>
      </p:sp>
      <p:sp>
        <p:nvSpPr>
          <p:cNvPr name="TextBox 5" id="5"/>
          <p:cNvSpPr txBox="true"/>
          <p:nvPr/>
        </p:nvSpPr>
        <p:spPr>
          <a:xfrm rot="0">
            <a:off x="892071" y="1953280"/>
            <a:ext cx="7154045" cy="1780540"/>
          </a:xfrm>
          <a:prstGeom prst="rect">
            <a:avLst/>
          </a:prstGeom>
        </p:spPr>
        <p:txBody>
          <a:bodyPr anchor="t" rtlCol="false" tIns="0" lIns="0" bIns="0" rIns="0">
            <a:spAutoFit/>
          </a:bodyPr>
          <a:lstStyle/>
          <a:p>
            <a:pPr algn="ctr">
              <a:lnSpc>
                <a:spcPts val="4759"/>
              </a:lnSpc>
            </a:pPr>
            <a:r>
              <a:rPr lang="en-US" sz="3399" b="true">
                <a:solidFill>
                  <a:srgbClr val="866255"/>
                </a:solidFill>
                <a:latin typeface="Canva Sans Bold"/>
                <a:ea typeface="Canva Sans Bold"/>
                <a:cs typeface="Canva Sans Bold"/>
                <a:sym typeface="Canva Sans Bold"/>
              </a:rPr>
              <a:t>International investigation about the currently advancements in QC</a:t>
            </a:r>
          </a:p>
        </p:txBody>
      </p:sp>
      <p:sp>
        <p:nvSpPr>
          <p:cNvPr name="TextBox 6" id="6"/>
          <p:cNvSpPr txBox="true"/>
          <p:nvPr/>
        </p:nvSpPr>
        <p:spPr>
          <a:xfrm rot="0">
            <a:off x="10273601" y="7366471"/>
            <a:ext cx="6985699" cy="2585085"/>
          </a:xfrm>
          <a:prstGeom prst="rect">
            <a:avLst/>
          </a:prstGeom>
        </p:spPr>
        <p:txBody>
          <a:bodyPr anchor="t" rtlCol="false" tIns="0" lIns="0" bIns="0" rIns="0">
            <a:spAutoFit/>
          </a:bodyPr>
          <a:lstStyle/>
          <a:p>
            <a:pPr algn="ctr">
              <a:lnSpc>
                <a:spcPts val="2940"/>
              </a:lnSpc>
            </a:pPr>
          </a:p>
          <a:p>
            <a:pPr algn="ctr">
              <a:lnSpc>
                <a:spcPts val="2940"/>
              </a:lnSpc>
            </a:pPr>
            <a:r>
              <a:rPr lang="en-US" sz="2100">
                <a:solidFill>
                  <a:srgbClr val="866255"/>
                </a:solidFill>
                <a:latin typeface="Canva Sans"/>
                <a:ea typeface="Canva Sans"/>
                <a:cs typeface="Canva Sans"/>
                <a:sym typeface="Canva Sans"/>
              </a:rPr>
              <a:t>A competition in Egypt using quantum methods for predicting PM2.5 (air pollution). </a:t>
            </a:r>
          </a:p>
          <a:p>
            <a:pPr algn="ctr">
              <a:lnSpc>
                <a:spcPts val="2940"/>
              </a:lnSpc>
            </a:pPr>
            <a:r>
              <a:rPr lang="en-US" sz="2100">
                <a:solidFill>
                  <a:srgbClr val="866255"/>
                </a:solidFill>
                <a:latin typeface="Canva Sans"/>
                <a:ea typeface="Canva Sans"/>
                <a:cs typeface="Canva Sans"/>
                <a:sym typeface="Canva Sans"/>
              </a:rPr>
              <a:t>Example of an applied problem where quantum / quantum + classical methods might be used in Egypt; aligns with environmental / societal needs.</a:t>
            </a:r>
          </a:p>
          <a:p>
            <a:pPr algn="ctr">
              <a:lnSpc>
                <a:spcPts val="2940"/>
              </a:lnSpc>
            </a:pPr>
          </a:p>
        </p:txBody>
      </p:sp>
      <p:sp>
        <p:nvSpPr>
          <p:cNvPr name="TextBox 7" id="7"/>
          <p:cNvSpPr txBox="true"/>
          <p:nvPr/>
        </p:nvSpPr>
        <p:spPr>
          <a:xfrm rot="0">
            <a:off x="9139238" y="4151630"/>
            <a:ext cx="9525" cy="1783714"/>
          </a:xfrm>
          <a:prstGeom prst="rect">
            <a:avLst/>
          </a:prstGeom>
        </p:spPr>
        <p:txBody>
          <a:bodyPr anchor="t" rtlCol="false" tIns="0" lIns="0" bIns="0" rIns="0">
            <a:spAutoFit/>
          </a:bodyPr>
          <a:lstStyle/>
          <a:p>
            <a:pPr algn="ctr">
              <a:lnSpc>
                <a:spcPts val="14560"/>
              </a:lnSpc>
              <a:spcBef>
                <a:spcPct val="0"/>
              </a:spcBef>
            </a:pPr>
          </a:p>
        </p:txBody>
      </p:sp>
      <p:sp>
        <p:nvSpPr>
          <p:cNvPr name="TextBox 8" id="8"/>
          <p:cNvSpPr txBox="true"/>
          <p:nvPr/>
        </p:nvSpPr>
        <p:spPr>
          <a:xfrm rot="0">
            <a:off x="10273601" y="6878331"/>
            <a:ext cx="6715404" cy="727710"/>
          </a:xfrm>
          <a:prstGeom prst="rect">
            <a:avLst/>
          </a:prstGeom>
        </p:spPr>
        <p:txBody>
          <a:bodyPr anchor="t" rtlCol="false" tIns="0" lIns="0" bIns="0" rIns="0">
            <a:spAutoFit/>
          </a:bodyPr>
          <a:lstStyle/>
          <a:p>
            <a:pPr algn="ctr">
              <a:lnSpc>
                <a:spcPts val="2940"/>
              </a:lnSpc>
            </a:pPr>
            <a:r>
              <a:rPr lang="en-US" b="true" sz="2100" u="sng">
                <a:solidFill>
                  <a:srgbClr val="866255"/>
                </a:solidFill>
                <a:latin typeface="Canva Sans Bold"/>
                <a:ea typeface="Canva Sans Bold"/>
                <a:cs typeface="Canva Sans Bold"/>
                <a:sym typeface="Canva Sans Bold"/>
                <a:hlinkClick r:id="rId5" tooltip="https://itcs.nu.edu.eg/Air_Quality_Quantum_Computing"/>
              </a:rPr>
              <a:t>“Egyptian Air Quality Prediction Quantum Competition”</a:t>
            </a:r>
          </a:p>
        </p:txBody>
      </p:sp>
      <p:sp>
        <p:nvSpPr>
          <p:cNvPr name="TextBox 9" id="9"/>
          <p:cNvSpPr txBox="true"/>
          <p:nvPr/>
        </p:nvSpPr>
        <p:spPr>
          <a:xfrm rot="0">
            <a:off x="541562" y="3747464"/>
            <a:ext cx="7999997" cy="5556885"/>
          </a:xfrm>
          <a:prstGeom prst="rect">
            <a:avLst/>
          </a:prstGeom>
        </p:spPr>
        <p:txBody>
          <a:bodyPr anchor="t" rtlCol="false" tIns="0" lIns="0" bIns="0" rIns="0">
            <a:spAutoFit/>
          </a:bodyPr>
          <a:lstStyle/>
          <a:p>
            <a:pPr algn="l">
              <a:lnSpc>
                <a:spcPts val="2940"/>
              </a:lnSpc>
            </a:pPr>
            <a:r>
              <a:rPr lang="en-US" sz="2100">
                <a:solidFill>
                  <a:srgbClr val="866255"/>
                </a:solidFill>
                <a:latin typeface="Canva Sans"/>
                <a:ea typeface="Canva Sans"/>
                <a:cs typeface="Canva Sans"/>
                <a:sym typeface="Canva Sans"/>
              </a:rPr>
              <a:t> </a:t>
            </a:r>
            <a:r>
              <a:rPr lang="en-US" b="true" sz="2100" u="sng">
                <a:solidFill>
                  <a:srgbClr val="866255"/>
                </a:solidFill>
                <a:latin typeface="Canva Sans Bold"/>
                <a:ea typeface="Canva Sans Bold"/>
                <a:cs typeface="Canva Sans Bold"/>
                <a:sym typeface="Canva Sans Bold"/>
                <a:hlinkClick r:id="rId6" tooltip="https://www.linkedin.com/company/nist/"/>
              </a:rPr>
              <a:t>National Institute of Standards and Technology (NIST)</a:t>
            </a:r>
            <a:r>
              <a:rPr lang="en-US" sz="2100">
                <a:solidFill>
                  <a:srgbClr val="866255"/>
                </a:solidFill>
                <a:latin typeface="Canva Sans"/>
                <a:ea typeface="Canva Sans"/>
                <a:cs typeface="Canva Sans"/>
                <a:sym typeface="Canva Sans"/>
              </a:rPr>
              <a:t> Researchers Propose New </a:t>
            </a:r>
            <a:r>
              <a:rPr lang="en-US" sz="2100">
                <a:solidFill>
                  <a:srgbClr val="866255"/>
                </a:solidFill>
                <a:latin typeface="Canva Sans"/>
                <a:ea typeface="Canva Sans"/>
                <a:cs typeface="Canva Sans"/>
                <a:sym typeface="Canva Sans"/>
              </a:rPr>
              <a:t>Approach to Noise in Quantum Sensing</a:t>
            </a:r>
          </a:p>
          <a:p>
            <a:pPr algn="l">
              <a:lnSpc>
                <a:spcPts val="2940"/>
              </a:lnSpc>
            </a:pPr>
            <a:r>
              <a:rPr lang="en-US" sz="2100">
                <a:solidFill>
                  <a:srgbClr val="866255"/>
                </a:solidFill>
                <a:latin typeface="Canva Sans"/>
                <a:ea typeface="Canva Sans"/>
                <a:cs typeface="Canva Sans"/>
                <a:sym typeface="Canva Sans"/>
              </a:rPr>
              <a:t>A team from NIST and collaborating institutions has outlined a method to make quantum sensors more resilient to environmental noise while still retaining enhanced sensitivity.</a:t>
            </a:r>
          </a:p>
          <a:p>
            <a:pPr algn="l">
              <a:lnSpc>
                <a:spcPts val="2940"/>
              </a:lnSpc>
            </a:pPr>
          </a:p>
          <a:p>
            <a:pPr algn="l">
              <a:lnSpc>
                <a:spcPts val="2940"/>
              </a:lnSpc>
            </a:pPr>
            <a:r>
              <a:rPr lang="en-US" sz="2100">
                <a:solidFill>
                  <a:srgbClr val="866255"/>
                </a:solidFill>
                <a:latin typeface="Canva Sans"/>
                <a:ea typeface="Canva Sans"/>
                <a:cs typeface="Canva Sans"/>
                <a:sym typeface="Canva Sans"/>
              </a:rPr>
              <a:t>Uses partial quantum error correction on entangled qubits</a:t>
            </a:r>
          </a:p>
          <a:p>
            <a:pPr algn="l">
              <a:lnSpc>
                <a:spcPts val="2940"/>
              </a:lnSpc>
            </a:pPr>
            <a:r>
              <a:rPr lang="en-US" sz="2100">
                <a:solidFill>
                  <a:srgbClr val="866255"/>
                </a:solidFill>
                <a:latin typeface="Canva Sans"/>
                <a:ea typeface="Canva Sans"/>
                <a:cs typeface="Canva Sans"/>
                <a:sym typeface="Canva Sans"/>
              </a:rPr>
              <a:t>Accepts some noise-related errors rather than correcting all of them</a:t>
            </a:r>
          </a:p>
          <a:p>
            <a:pPr algn="l">
              <a:lnSpc>
                <a:spcPts val="2940"/>
              </a:lnSpc>
            </a:pPr>
            <a:r>
              <a:rPr lang="en-US" sz="2100">
                <a:solidFill>
                  <a:srgbClr val="866255"/>
                </a:solidFill>
                <a:latin typeface="Canva Sans"/>
                <a:ea typeface="Canva Sans"/>
                <a:cs typeface="Canva Sans"/>
                <a:sym typeface="Canva Sans"/>
              </a:rPr>
              <a:t>Still enables sensors to outperform unentangled systems</a:t>
            </a:r>
          </a:p>
          <a:p>
            <a:pPr algn="l">
              <a:lnSpc>
                <a:spcPts val="2940"/>
              </a:lnSpc>
            </a:pPr>
          </a:p>
          <a:p>
            <a:pPr algn="l">
              <a:lnSpc>
                <a:spcPts val="2940"/>
              </a:lnSpc>
            </a:pPr>
            <a:r>
              <a:rPr lang="en-US" sz="2100">
                <a:solidFill>
                  <a:srgbClr val="866255"/>
                </a:solidFill>
                <a:latin typeface="Canva Sans"/>
                <a:ea typeface="Canva Sans"/>
                <a:cs typeface="Canva Sans"/>
                <a:sym typeface="Canva Sans"/>
              </a:rPr>
              <a:t>The work provides a theoretical framework for developing future high-precision sensors with potential applications in healthcare, navigation, and mineral exploration.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EEE7"/>
        </a:solidFill>
      </p:bgPr>
    </p:bg>
    <p:spTree>
      <p:nvGrpSpPr>
        <p:cNvPr id="1" name=""/>
        <p:cNvGrpSpPr/>
        <p:nvPr/>
      </p:nvGrpSpPr>
      <p:grpSpPr>
        <a:xfrm>
          <a:off x="0" y="0"/>
          <a:ext cx="0" cy="0"/>
          <a:chOff x="0" y="0"/>
          <a:chExt cx="0" cy="0"/>
        </a:xfrm>
      </p:grpSpPr>
      <p:sp>
        <p:nvSpPr>
          <p:cNvPr name="Freeform 2" id="2"/>
          <p:cNvSpPr/>
          <p:nvPr/>
        </p:nvSpPr>
        <p:spPr>
          <a:xfrm flipH="false" flipV="false" rot="0">
            <a:off x="0" y="6760893"/>
            <a:ext cx="11455619" cy="3084201"/>
          </a:xfrm>
          <a:custGeom>
            <a:avLst/>
            <a:gdLst/>
            <a:ahLst/>
            <a:cxnLst/>
            <a:rect r="r" b="b" t="t" l="l"/>
            <a:pathLst>
              <a:path h="3084201" w="11455619">
                <a:moveTo>
                  <a:pt x="0" y="0"/>
                </a:moveTo>
                <a:lnTo>
                  <a:pt x="11455619" y="0"/>
                </a:lnTo>
                <a:lnTo>
                  <a:pt x="11455619" y="3084201"/>
                </a:lnTo>
                <a:lnTo>
                  <a:pt x="0" y="3084201"/>
                </a:lnTo>
                <a:lnTo>
                  <a:pt x="0" y="0"/>
                </a:lnTo>
                <a:close/>
              </a:path>
            </a:pathLst>
          </a:custGeom>
          <a:blipFill>
            <a:blip r:embed="rId2"/>
            <a:stretch>
              <a:fillRect l="0" t="-2337" r="0" b="-2337"/>
            </a:stretch>
          </a:blipFill>
        </p:spPr>
      </p:sp>
      <p:sp>
        <p:nvSpPr>
          <p:cNvPr name="TextBox 3" id="3"/>
          <p:cNvSpPr txBox="true"/>
          <p:nvPr/>
        </p:nvSpPr>
        <p:spPr>
          <a:xfrm rot="0">
            <a:off x="3280210" y="327133"/>
            <a:ext cx="10881451" cy="1398494"/>
          </a:xfrm>
          <a:prstGeom prst="rect">
            <a:avLst/>
          </a:prstGeom>
        </p:spPr>
        <p:txBody>
          <a:bodyPr anchor="t" rtlCol="false" tIns="0" lIns="0" bIns="0" rIns="0">
            <a:spAutoFit/>
          </a:bodyPr>
          <a:lstStyle/>
          <a:p>
            <a:pPr algn="ctr">
              <a:lnSpc>
                <a:spcPts val="9544"/>
              </a:lnSpc>
            </a:pPr>
            <a:r>
              <a:rPr lang="en-US" b="true" sz="8088">
                <a:solidFill>
                  <a:srgbClr val="866255"/>
                </a:solidFill>
                <a:latin typeface="The Seasons Bold"/>
                <a:ea typeface="The Seasons Bold"/>
                <a:cs typeface="The Seasons Bold"/>
                <a:sym typeface="The Seasons Bold"/>
              </a:rPr>
              <a:t>FUTURE INVESTMENTS </a:t>
            </a:r>
          </a:p>
        </p:txBody>
      </p:sp>
      <p:sp>
        <p:nvSpPr>
          <p:cNvPr name="TextBox 4" id="4"/>
          <p:cNvSpPr txBox="true"/>
          <p:nvPr/>
        </p:nvSpPr>
        <p:spPr>
          <a:xfrm rot="0">
            <a:off x="10897403" y="3274695"/>
            <a:ext cx="6528514" cy="3699510"/>
          </a:xfrm>
          <a:prstGeom prst="rect">
            <a:avLst/>
          </a:prstGeom>
        </p:spPr>
        <p:txBody>
          <a:bodyPr anchor="t" rtlCol="false" tIns="0" lIns="0" bIns="0" rIns="0">
            <a:spAutoFit/>
          </a:bodyPr>
          <a:lstStyle/>
          <a:p>
            <a:pPr algn="ctr">
              <a:lnSpc>
                <a:spcPts val="2940"/>
              </a:lnSpc>
            </a:pPr>
          </a:p>
          <a:p>
            <a:pPr algn="ctr">
              <a:lnSpc>
                <a:spcPts val="2940"/>
              </a:lnSpc>
            </a:pPr>
            <a:r>
              <a:rPr lang="en-US" sz="2100">
                <a:solidFill>
                  <a:srgbClr val="866255"/>
                </a:solidFill>
                <a:latin typeface="Canva Sans"/>
                <a:ea typeface="Canva Sans"/>
                <a:cs typeface="Canva Sans"/>
                <a:sym typeface="Canva Sans"/>
              </a:rPr>
              <a:t>First Quantum Computing Research Lab in Middle East &amp; </a:t>
            </a:r>
            <a:r>
              <a:rPr lang="en-US" sz="2100">
                <a:solidFill>
                  <a:srgbClr val="866255"/>
                </a:solidFill>
                <a:latin typeface="Canva Sans"/>
                <a:ea typeface="Canva Sans"/>
                <a:cs typeface="Canva Sans"/>
                <a:sym typeface="Canva Sans"/>
              </a:rPr>
              <a:t>Africa. Founded ~2017. Focuses on education, research, and connecting researchers/advisors/investors. </a:t>
            </a:r>
          </a:p>
          <a:p>
            <a:pPr algn="ctr">
              <a:lnSpc>
                <a:spcPts val="2940"/>
              </a:lnSpc>
            </a:pPr>
            <a:r>
              <a:rPr lang="en-US" sz="2100">
                <a:solidFill>
                  <a:srgbClr val="866255"/>
                </a:solidFill>
                <a:latin typeface="Canva Sans"/>
                <a:ea typeface="Canva Sans"/>
                <a:cs typeface="Canva Sans"/>
                <a:sym typeface="Canva Sans"/>
              </a:rPr>
              <a:t>Shows there is an entity specifically in Egypt focused on QML / quantum computing research and development. Might not yet be product-focused in CV but shows infrastructure.</a:t>
            </a:r>
          </a:p>
          <a:p>
            <a:pPr algn="ctr">
              <a:lnSpc>
                <a:spcPts val="2940"/>
              </a:lnSpc>
            </a:pPr>
          </a:p>
        </p:txBody>
      </p:sp>
      <p:sp>
        <p:nvSpPr>
          <p:cNvPr name="TextBox 5" id="5"/>
          <p:cNvSpPr txBox="true"/>
          <p:nvPr/>
        </p:nvSpPr>
        <p:spPr>
          <a:xfrm rot="0">
            <a:off x="575727" y="2949272"/>
            <a:ext cx="6528514" cy="356235"/>
          </a:xfrm>
          <a:prstGeom prst="rect">
            <a:avLst/>
          </a:prstGeom>
        </p:spPr>
        <p:txBody>
          <a:bodyPr anchor="t" rtlCol="false" tIns="0" lIns="0" bIns="0" rIns="0">
            <a:spAutoFit/>
          </a:bodyPr>
          <a:lstStyle/>
          <a:p>
            <a:pPr algn="ctr">
              <a:lnSpc>
                <a:spcPts val="2940"/>
              </a:lnSpc>
            </a:pPr>
            <a:r>
              <a:rPr lang="en-US" b="true" sz="2100" u="sng">
                <a:solidFill>
                  <a:srgbClr val="866255"/>
                </a:solidFill>
                <a:latin typeface="Canva Sans Bold"/>
                <a:ea typeface="Canva Sans Bold"/>
                <a:cs typeface="Canva Sans Bold"/>
                <a:sym typeface="Canva Sans Bold"/>
                <a:hlinkClick r:id="rId3" tooltip="https://stocks.observer-reporter.com/observerreporter/article/binary-2025-5-26-anzaetek-leads-the-global-quantum-ai-frontier-from-seoul?utm_source=chatgpt.com"/>
              </a:rPr>
              <a:t>Anzaetek (Seoul, South Korea)</a:t>
            </a:r>
          </a:p>
        </p:txBody>
      </p:sp>
      <p:sp>
        <p:nvSpPr>
          <p:cNvPr name="TextBox 6" id="6"/>
          <p:cNvSpPr txBox="true"/>
          <p:nvPr/>
        </p:nvSpPr>
        <p:spPr>
          <a:xfrm rot="0">
            <a:off x="575727" y="1828626"/>
            <a:ext cx="17333723" cy="356235"/>
          </a:xfrm>
          <a:prstGeom prst="rect">
            <a:avLst/>
          </a:prstGeom>
        </p:spPr>
        <p:txBody>
          <a:bodyPr anchor="t" rtlCol="false" tIns="0" lIns="0" bIns="0" rIns="0">
            <a:spAutoFit/>
          </a:bodyPr>
          <a:lstStyle/>
          <a:p>
            <a:pPr algn="ctr">
              <a:lnSpc>
                <a:spcPts val="2940"/>
              </a:lnSpc>
            </a:pPr>
            <a:r>
              <a:rPr lang="en-US" sz="2100">
                <a:solidFill>
                  <a:srgbClr val="866255"/>
                </a:solidFill>
                <a:latin typeface="Canva Sans"/>
                <a:ea typeface="Canva Sans"/>
                <a:cs typeface="Canva Sans"/>
                <a:sym typeface="Canva Sans"/>
              </a:rPr>
              <a:t>While</a:t>
            </a:r>
            <a:r>
              <a:rPr lang="en-US" sz="2100">
                <a:solidFill>
                  <a:srgbClr val="866255"/>
                </a:solidFill>
                <a:latin typeface="Canva Sans"/>
                <a:ea typeface="Canva Sans"/>
                <a:cs typeface="Canva Sans"/>
                <a:sym typeface="Canva Sans"/>
              </a:rPr>
              <a:t> the industry is still relatively new, with a </a:t>
            </a:r>
            <a:r>
              <a:rPr lang="en-US" sz="2100" u="sng">
                <a:solidFill>
                  <a:srgbClr val="866255"/>
                </a:solidFill>
                <a:latin typeface="Canva Sans"/>
                <a:ea typeface="Canva Sans"/>
                <a:cs typeface="Canva Sans"/>
                <a:sym typeface="Canva Sans"/>
                <a:hlinkClick r:id="rId4" tooltip="https://www.fortunebusinessinsights.com/quantum-computing-market-104855"/>
              </a:rPr>
              <a:t>market size</a:t>
            </a:r>
            <a:r>
              <a:rPr lang="en-US" sz="2100">
                <a:solidFill>
                  <a:srgbClr val="866255"/>
                </a:solidFill>
                <a:latin typeface="Canva Sans"/>
                <a:ea typeface="Canva Sans"/>
                <a:cs typeface="Canva Sans"/>
                <a:sym typeface="Canva Sans"/>
              </a:rPr>
              <a:t> of around $1.16 billion in 2024, it's expected to grow to $12.62 billion in 2032.</a:t>
            </a:r>
          </a:p>
        </p:txBody>
      </p:sp>
      <p:sp>
        <p:nvSpPr>
          <p:cNvPr name="TextBox 7" id="7"/>
          <p:cNvSpPr txBox="true"/>
          <p:nvPr/>
        </p:nvSpPr>
        <p:spPr>
          <a:xfrm rot="0">
            <a:off x="10730786" y="2949272"/>
            <a:ext cx="6528514" cy="356235"/>
          </a:xfrm>
          <a:prstGeom prst="rect">
            <a:avLst/>
          </a:prstGeom>
        </p:spPr>
        <p:txBody>
          <a:bodyPr anchor="t" rtlCol="false" tIns="0" lIns="0" bIns="0" rIns="0">
            <a:spAutoFit/>
          </a:bodyPr>
          <a:lstStyle/>
          <a:p>
            <a:pPr algn="ctr">
              <a:lnSpc>
                <a:spcPts val="2940"/>
              </a:lnSpc>
            </a:pPr>
            <a:r>
              <a:rPr lang="en-US" b="true" sz="2100" u="sng">
                <a:solidFill>
                  <a:srgbClr val="866255"/>
                </a:solidFill>
                <a:latin typeface="Canva Sans Bold"/>
                <a:ea typeface="Canva Sans Bold"/>
                <a:cs typeface="Canva Sans Bold"/>
                <a:sym typeface="Canva Sans Bold"/>
                <a:hlinkClick r:id="rId5" tooltip="https://www.f6s.com/company/qubits#about"/>
              </a:rPr>
              <a:t>QuB</a:t>
            </a:r>
            <a:r>
              <a:rPr lang="en-US" b="true" sz="2100" u="sng">
                <a:solidFill>
                  <a:srgbClr val="866255"/>
                </a:solidFill>
                <a:latin typeface="Canva Sans Bold"/>
                <a:ea typeface="Canva Sans Bold"/>
                <a:cs typeface="Canva Sans Bold"/>
                <a:sym typeface="Canva Sans Bold"/>
                <a:hlinkClick r:id="rId6" tooltip="https://www.f6s.com/company/qubits#about"/>
              </a:rPr>
              <a:t>its / mQuBits (Cairo, Egypt)</a:t>
            </a:r>
          </a:p>
        </p:txBody>
      </p:sp>
      <p:sp>
        <p:nvSpPr>
          <p:cNvPr name="TextBox 8" id="8"/>
          <p:cNvSpPr txBox="true"/>
          <p:nvPr/>
        </p:nvSpPr>
        <p:spPr>
          <a:xfrm rot="0">
            <a:off x="575727" y="3822397"/>
            <a:ext cx="7989975" cy="2213610"/>
          </a:xfrm>
          <a:prstGeom prst="rect">
            <a:avLst/>
          </a:prstGeom>
        </p:spPr>
        <p:txBody>
          <a:bodyPr anchor="t" rtlCol="false" tIns="0" lIns="0" bIns="0" rIns="0">
            <a:spAutoFit/>
          </a:bodyPr>
          <a:lstStyle/>
          <a:p>
            <a:pPr algn="ctr">
              <a:lnSpc>
                <a:spcPts val="2940"/>
              </a:lnSpc>
            </a:pPr>
            <a:r>
              <a:rPr lang="en-US" sz="2100">
                <a:solidFill>
                  <a:srgbClr val="866255"/>
                </a:solidFill>
                <a:latin typeface="Canva Sans"/>
                <a:ea typeface="Canva Sans"/>
                <a:cs typeface="Canva Sans"/>
                <a:sym typeface="Canva Sans"/>
              </a:rPr>
              <a:t>They are </a:t>
            </a:r>
            <a:r>
              <a:rPr lang="en-US" sz="2100">
                <a:solidFill>
                  <a:srgbClr val="866255"/>
                </a:solidFill>
                <a:latin typeface="Canva Sans"/>
                <a:ea typeface="Canva Sans"/>
                <a:cs typeface="Canva Sans"/>
                <a:sym typeface="Canva Sans"/>
              </a:rPr>
              <a:t>developing scalable &amp; privacy-preserving QML and Quantum Federated Learning (QFL) platforms. One achievement: high-fidelity image reconstructions from a 256×256 RGB ImageNet subset using QML-powered autoencoders (QLAE). They plan to release an emulator-based QML/QFL product suite by late 2025.</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4EEE7"/>
        </a:solidFill>
      </p:bgPr>
    </p:bg>
    <p:spTree>
      <p:nvGrpSpPr>
        <p:cNvPr id="1" name=""/>
        <p:cNvGrpSpPr/>
        <p:nvPr/>
      </p:nvGrpSpPr>
      <p:grpSpPr>
        <a:xfrm>
          <a:off x="0" y="0"/>
          <a:ext cx="0" cy="0"/>
          <a:chOff x="0" y="0"/>
          <a:chExt cx="0" cy="0"/>
        </a:xfrm>
      </p:grpSpPr>
      <p:sp>
        <p:nvSpPr>
          <p:cNvPr name="TextBox 2" id="2"/>
          <p:cNvSpPr txBox="true"/>
          <p:nvPr/>
        </p:nvSpPr>
        <p:spPr>
          <a:xfrm rot="0">
            <a:off x="3153357" y="2108890"/>
            <a:ext cx="11290042" cy="3034610"/>
          </a:xfrm>
          <a:prstGeom prst="rect">
            <a:avLst/>
          </a:prstGeom>
        </p:spPr>
        <p:txBody>
          <a:bodyPr anchor="t" rtlCol="false" tIns="0" lIns="0" bIns="0" rIns="0">
            <a:spAutoFit/>
          </a:bodyPr>
          <a:lstStyle/>
          <a:p>
            <a:pPr algn="ctr">
              <a:lnSpc>
                <a:spcPts val="12010"/>
              </a:lnSpc>
            </a:pPr>
            <a:r>
              <a:rPr lang="en-US" sz="9608" b="true">
                <a:solidFill>
                  <a:srgbClr val="866255"/>
                </a:solidFill>
                <a:latin typeface="Canva Sans Bold"/>
                <a:ea typeface="Canva Sans Bold"/>
                <a:cs typeface="Canva Sans Bold"/>
                <a:sym typeface="Canva Sans Bold"/>
              </a:rPr>
              <a:t>Lastly thanks a lot Dr: Ahmed</a:t>
            </a:r>
            <a:r>
              <a:rPr lang="en-US" sz="9608">
                <a:solidFill>
                  <a:srgbClr val="866255"/>
                </a:solidFill>
                <a:latin typeface="Canva Sans"/>
                <a:ea typeface="Canva Sans"/>
                <a:cs typeface="Canva Sans"/>
                <a:sym typeface="Canva Sans"/>
              </a:rPr>
              <a:t> </a:t>
            </a:r>
          </a:p>
        </p:txBody>
      </p:sp>
      <p:sp>
        <p:nvSpPr>
          <p:cNvPr name="TextBox 3" id="3"/>
          <p:cNvSpPr txBox="true"/>
          <p:nvPr/>
        </p:nvSpPr>
        <p:spPr>
          <a:xfrm rot="0">
            <a:off x="4421315" y="5645224"/>
            <a:ext cx="9445370" cy="1163320"/>
          </a:xfrm>
          <a:prstGeom prst="rect">
            <a:avLst/>
          </a:prstGeom>
        </p:spPr>
        <p:txBody>
          <a:bodyPr anchor="t" rtlCol="false" tIns="0" lIns="0" bIns="0" rIns="0">
            <a:spAutoFit/>
          </a:bodyPr>
          <a:lstStyle/>
          <a:p>
            <a:pPr algn="ctr">
              <a:lnSpc>
                <a:spcPts val="3079"/>
              </a:lnSpc>
              <a:spcBef>
                <a:spcPct val="0"/>
              </a:spcBef>
            </a:pPr>
            <a:r>
              <a:rPr lang="en-US" sz="2199">
                <a:solidFill>
                  <a:srgbClr val="866255"/>
                </a:solidFill>
                <a:latin typeface="Glacial Indifference"/>
                <a:ea typeface="Glacial Indifference"/>
                <a:cs typeface="Glacial Indifference"/>
                <a:sym typeface="Glacial Indifference"/>
              </a:rPr>
              <a:t>Looking forward to be part of the future projects u have mentioned that are going to be held, especially in QML and looking forward to be part of Alexandria Quantum Group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DAGy0DCdJao</dc:identifier>
  <dcterms:modified xsi:type="dcterms:W3CDTF">2011-08-01T06:04:30Z</dcterms:modified>
  <cp:revision>1</cp:revision>
  <dc:title>Beige and Brown Minimalist Professional Creative Project Presentation</dc:title>
</cp:coreProperties>
</file>